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6" r:id="rId3"/>
    <p:sldId id="263" r:id="rId4"/>
    <p:sldId id="264" r:id="rId5"/>
    <p:sldId id="265" r:id="rId6"/>
    <p:sldId id="266" r:id="rId7"/>
    <p:sldId id="267" r:id="rId8"/>
    <p:sldId id="257" r:id="rId9"/>
    <p:sldId id="259" r:id="rId10"/>
    <p:sldId id="268" r:id="rId11"/>
    <p:sldId id="269" r:id="rId12"/>
    <p:sldId id="270" r:id="rId13"/>
    <p:sldId id="261" r:id="rId14"/>
    <p:sldId id="262" r:id="rId15"/>
    <p:sldId id="271" r:id="rId16"/>
    <p:sldId id="272" r:id="rId17"/>
    <p:sldId id="273" r:id="rId18"/>
    <p:sldId id="274" r:id="rId19"/>
    <p:sldId id="275"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1" r:id="rId34"/>
    <p:sldId id="292" r:id="rId35"/>
    <p:sldId id="293" r:id="rId36"/>
    <p:sldId id="294" r:id="rId37"/>
    <p:sldId id="295" r:id="rId38"/>
    <p:sldId id="296" r:id="rId39"/>
    <p:sldId id="297" r:id="rId40"/>
    <p:sldId id="299" r:id="rId41"/>
    <p:sldId id="300" r:id="rId42"/>
    <p:sldId id="301" r:id="rId43"/>
    <p:sldId id="302" r:id="rId44"/>
    <p:sldId id="298" r:id="rId45"/>
    <p:sldId id="303" r:id="rId46"/>
    <p:sldId id="304"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7/31/2024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matematicasentumundo.es/HISTORIA/historia_Pascal.htm" TargetMode="External"/><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hyperlink" Target="http://www.flickr.com/photos/nathaninsandiego/8225332119/" TargetMode="Externa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D9C9-D54B-B43F-F86F-02CBC36E4551}"/>
              </a:ext>
            </a:extLst>
          </p:cNvPr>
          <p:cNvSpPr>
            <a:spLocks noGrp="1"/>
          </p:cNvSpPr>
          <p:nvPr>
            <p:ph type="ctrTitle"/>
          </p:nvPr>
        </p:nvSpPr>
        <p:spPr/>
        <p:txBody>
          <a:bodyPr/>
          <a:lstStyle/>
          <a:p>
            <a:r>
              <a:rPr lang="en-IN" sz="3600" dirty="0">
                <a:latin typeface="Times New Roman" panose="02020603050405020304" pitchFamily="18" charset="0"/>
                <a:cs typeface="Times New Roman" panose="02020603050405020304" pitchFamily="18" charset="0"/>
              </a:rPr>
              <a:t>Fundamentals of Android Applications</a:t>
            </a:r>
          </a:p>
        </p:txBody>
      </p:sp>
      <p:sp>
        <p:nvSpPr>
          <p:cNvPr id="3" name="Subtitle 2">
            <a:extLst>
              <a:ext uri="{FF2B5EF4-FFF2-40B4-BE49-F238E27FC236}">
                <a16:creationId xmlns:a16="http://schemas.microsoft.com/office/drawing/2014/main" id="{FF2F7FC4-0E90-31DA-5A17-7556AB6DDE0F}"/>
              </a:ext>
            </a:extLst>
          </p:cNvPr>
          <p:cNvSpPr>
            <a:spLocks noGrp="1"/>
          </p:cNvSpPr>
          <p:nvPr>
            <p:ph type="subTitle" idx="1"/>
          </p:nvPr>
        </p:nvSpPr>
        <p:spPr/>
        <p:txBody>
          <a:bodyPr/>
          <a:lstStyle/>
          <a:p>
            <a:r>
              <a:rPr lang="en-IN" dirty="0"/>
              <a:t>Unit-1</a:t>
            </a:r>
          </a:p>
        </p:txBody>
      </p:sp>
    </p:spTree>
    <p:extLst>
      <p:ext uri="{BB962C8B-B14F-4D97-AF65-F5344CB8AC3E}">
        <p14:creationId xmlns:p14="http://schemas.microsoft.com/office/powerpoint/2010/main" val="3316115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EC590-DADA-D56A-8D92-774F20D0D420}"/>
              </a:ext>
            </a:extLst>
          </p:cNvPr>
          <p:cNvSpPr>
            <a:spLocks noGrp="1"/>
          </p:cNvSpPr>
          <p:nvPr>
            <p:ph type="title"/>
          </p:nvPr>
        </p:nvSpPr>
        <p:spPr/>
        <p:txBody>
          <a:bodyPr/>
          <a:lstStyle/>
          <a:p>
            <a:r>
              <a:rPr lang="en-IN" dirty="0"/>
              <a:t>Topics</a:t>
            </a:r>
          </a:p>
        </p:txBody>
      </p:sp>
      <p:sp>
        <p:nvSpPr>
          <p:cNvPr id="3" name="Content Placeholder 2">
            <a:extLst>
              <a:ext uri="{FF2B5EF4-FFF2-40B4-BE49-F238E27FC236}">
                <a16:creationId xmlns:a16="http://schemas.microsoft.com/office/drawing/2014/main" id="{790EAA29-7715-A046-9C06-8D6B44FF5014}"/>
              </a:ext>
            </a:extLst>
          </p:cNvPr>
          <p:cNvSpPr>
            <a:spLocks noGrp="1"/>
          </p:cNvSpPr>
          <p:nvPr>
            <p:ph idx="1"/>
          </p:nvPr>
        </p:nvSpPr>
        <p:spPr>
          <a:xfrm>
            <a:off x="1004989" y="1413821"/>
            <a:ext cx="8946541" cy="4195481"/>
          </a:xfrm>
        </p:spPr>
        <p:txBody>
          <a:bodyPr>
            <a:normAutofit/>
          </a:bodyPr>
          <a:lstStyle/>
          <a:p>
            <a:r>
              <a:rPr lang="en-IN" sz="3600" dirty="0">
                <a:latin typeface="Times New Roman" panose="02020603050405020304" pitchFamily="18" charset="0"/>
                <a:cs typeface="Times New Roman" panose="02020603050405020304" pitchFamily="18" charset="0"/>
              </a:rPr>
              <a:t>OOPS</a:t>
            </a:r>
          </a:p>
          <a:p>
            <a:r>
              <a:rPr lang="en-IN" sz="3600" dirty="0"/>
              <a:t>Software Engineering </a:t>
            </a:r>
          </a:p>
          <a:p>
            <a:r>
              <a:rPr lang="en-US" sz="3600" dirty="0">
                <a:effectLst/>
                <a:latin typeface="Times New Roman" panose="02020603050405020304" pitchFamily="18" charset="0"/>
                <a:ea typeface="Times New Roman" panose="02020603050405020304" pitchFamily="18" charset="0"/>
              </a:rPr>
              <a:t>Basics of Android and Android application</a:t>
            </a:r>
            <a:endParaRPr lang="en-IN" sz="3600" dirty="0"/>
          </a:p>
        </p:txBody>
      </p:sp>
    </p:spTree>
    <p:extLst>
      <p:ext uri="{BB962C8B-B14F-4D97-AF65-F5344CB8AC3E}">
        <p14:creationId xmlns:p14="http://schemas.microsoft.com/office/powerpoint/2010/main" val="2743944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4A2AC-4B6C-C87E-3746-4169A7CE9459}"/>
              </a:ext>
            </a:extLst>
          </p:cNvPr>
          <p:cNvSpPr>
            <a:spLocks noGrp="1"/>
          </p:cNvSpPr>
          <p:nvPr>
            <p:ph type="title"/>
          </p:nvPr>
        </p:nvSpPr>
        <p:spPr/>
        <p:txBody>
          <a:bodyPr/>
          <a:lstStyle/>
          <a:p>
            <a:r>
              <a:rPr lang="en-IN" dirty="0"/>
              <a:t>Why we use java </a:t>
            </a:r>
          </a:p>
        </p:txBody>
      </p:sp>
      <p:sp>
        <p:nvSpPr>
          <p:cNvPr id="3" name="Content Placeholder 2">
            <a:extLst>
              <a:ext uri="{FF2B5EF4-FFF2-40B4-BE49-F238E27FC236}">
                <a16:creationId xmlns:a16="http://schemas.microsoft.com/office/drawing/2014/main" id="{51EB6417-1A52-1916-50CB-81E328530DEA}"/>
              </a:ext>
            </a:extLst>
          </p:cNvPr>
          <p:cNvSpPr>
            <a:spLocks noGrp="1"/>
          </p:cNvSpPr>
          <p:nvPr>
            <p:ph idx="1"/>
          </p:nvPr>
        </p:nvSpPr>
        <p:spPr/>
        <p:txBody>
          <a:bodyPr>
            <a:normAutofit lnSpcReduction="10000"/>
          </a:bodyPr>
          <a:lstStyle/>
          <a:p>
            <a:r>
              <a:rPr lang="en-US" dirty="0"/>
              <a:t>Java is a popular and widely-used programming language for many reasons. Here are some key reasons why developers choose Java:</a:t>
            </a:r>
          </a:p>
          <a:p>
            <a:r>
              <a:rPr lang="en-US" b="1" dirty="0"/>
              <a:t>1. Platform Independence</a:t>
            </a:r>
          </a:p>
          <a:p>
            <a:r>
              <a:rPr lang="en-US" b="1" dirty="0"/>
              <a:t>Write Once, Run Anywhere (WORA):</a:t>
            </a:r>
            <a:r>
              <a:rPr lang="en-US" dirty="0"/>
              <a:t> Java code is compiled into bytecode, which can be run on any device equipped with the Java Virtual Machine (JVM). This platform independence is one of Java's most significant advantages.</a:t>
            </a:r>
          </a:p>
          <a:p>
            <a:r>
              <a:rPr lang="en-US" b="1" dirty="0"/>
              <a:t>2. Object-Oriented Programming</a:t>
            </a:r>
          </a:p>
          <a:p>
            <a:r>
              <a:rPr lang="en-US" b="1" dirty="0"/>
              <a:t>Modularity and Reusability:</a:t>
            </a:r>
            <a:r>
              <a:rPr lang="en-US" dirty="0"/>
              <a:t> Java's object-oriented nature encourages the use of modular code, which can be reused across different programs. This leads to better organized and more manageable code.</a:t>
            </a:r>
          </a:p>
          <a:p>
            <a:endParaRPr lang="en-IN" dirty="0"/>
          </a:p>
        </p:txBody>
      </p:sp>
    </p:spTree>
    <p:extLst>
      <p:ext uri="{BB962C8B-B14F-4D97-AF65-F5344CB8AC3E}">
        <p14:creationId xmlns:p14="http://schemas.microsoft.com/office/powerpoint/2010/main" val="1111478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424CF6-DC2A-A0F3-C1DB-FC0CD02E99F2}"/>
              </a:ext>
            </a:extLst>
          </p:cNvPr>
          <p:cNvSpPr>
            <a:spLocks noGrp="1"/>
          </p:cNvSpPr>
          <p:nvPr>
            <p:ph idx="1"/>
          </p:nvPr>
        </p:nvSpPr>
        <p:spPr>
          <a:xfrm>
            <a:off x="843539" y="567018"/>
            <a:ext cx="8946541" cy="4195481"/>
          </a:xfrm>
        </p:spPr>
        <p:txBody>
          <a:bodyPr>
            <a:noAutofit/>
          </a:bodyPr>
          <a:lstStyle/>
          <a:p>
            <a:r>
              <a:rPr lang="en-US" sz="2400" b="1" dirty="0">
                <a:latin typeface="Times New Roman" panose="02020603050405020304" pitchFamily="18" charset="0"/>
                <a:cs typeface="Times New Roman" panose="02020603050405020304" pitchFamily="18" charset="0"/>
              </a:rPr>
              <a:t>3. Rich Standard Library</a:t>
            </a:r>
          </a:p>
          <a:p>
            <a:r>
              <a:rPr lang="en-US" sz="2400" b="1" dirty="0">
                <a:latin typeface="Times New Roman" panose="02020603050405020304" pitchFamily="18" charset="0"/>
                <a:cs typeface="Times New Roman" panose="02020603050405020304" pitchFamily="18" charset="0"/>
              </a:rPr>
              <a:t>Extensive APIs(</a:t>
            </a:r>
            <a:r>
              <a:rPr lang="en-IN" sz="2400" b="1" dirty="0"/>
              <a:t>Application Programming Interface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Java has a vast standard library that provides many useful APIs for tasks like I/O operations, networking, data structures, and much more, reducing the need to write code from scratch.</a:t>
            </a:r>
          </a:p>
          <a:p>
            <a:r>
              <a:rPr lang="en-US" sz="2400" dirty="0">
                <a:latin typeface="Times New Roman" panose="02020603050405020304" pitchFamily="18" charset="0"/>
                <a:cs typeface="Times New Roman" panose="02020603050405020304" pitchFamily="18" charset="0"/>
              </a:rPr>
              <a:t>Work of API-An API is a set of rules and protocols that allows different software applications to communicate with each other. It defines the methods and data structures that developers can use to interact with the functions and features provided by a particular software component or service.</a:t>
            </a:r>
          </a:p>
          <a:p>
            <a:r>
              <a:rPr lang="en-US" sz="2400" b="1" dirty="0">
                <a:latin typeface="Times New Roman" panose="02020603050405020304" pitchFamily="18" charset="0"/>
                <a:cs typeface="Times New Roman" panose="02020603050405020304" pitchFamily="18" charset="0"/>
              </a:rPr>
              <a:t>4. Strong Memory Management</a:t>
            </a:r>
          </a:p>
          <a:p>
            <a:r>
              <a:rPr lang="en-US" sz="2400" b="1" dirty="0">
                <a:latin typeface="Times New Roman" panose="02020603050405020304" pitchFamily="18" charset="0"/>
                <a:cs typeface="Times New Roman" panose="02020603050405020304" pitchFamily="18" charset="0"/>
              </a:rPr>
              <a:t>Automatic Garbage Collection:</a:t>
            </a:r>
            <a:r>
              <a:rPr lang="en-US" sz="2400" dirty="0">
                <a:latin typeface="Times New Roman" panose="02020603050405020304" pitchFamily="18" charset="0"/>
                <a:cs typeface="Times New Roman" panose="02020603050405020304" pitchFamily="18" charset="0"/>
              </a:rPr>
              <a:t> Java handles memory allocation and deallocation automatically through its garbage collection mechanism, reducing the likelihood of memory leaks and other related issues.</a:t>
            </a:r>
          </a:p>
          <a:p>
            <a:endParaRPr lang="en-IN" sz="2400" dirty="0"/>
          </a:p>
        </p:txBody>
      </p:sp>
    </p:spTree>
    <p:extLst>
      <p:ext uri="{BB962C8B-B14F-4D97-AF65-F5344CB8AC3E}">
        <p14:creationId xmlns:p14="http://schemas.microsoft.com/office/powerpoint/2010/main" val="291681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7860AA-9F64-7EB7-7779-6878E46C0E1F}"/>
              </a:ext>
            </a:extLst>
          </p:cNvPr>
          <p:cNvSpPr>
            <a:spLocks noGrp="1"/>
          </p:cNvSpPr>
          <p:nvPr>
            <p:ph idx="1"/>
          </p:nvPr>
        </p:nvSpPr>
        <p:spPr>
          <a:xfrm>
            <a:off x="916275" y="951482"/>
            <a:ext cx="8946541" cy="4195481"/>
          </a:xfrm>
        </p:spPr>
        <p:txBody>
          <a:bodyPr/>
          <a:lstStyle/>
          <a:p>
            <a:r>
              <a:rPr lang="en-US" b="1" dirty="0"/>
              <a:t>5. Robust and Secure</a:t>
            </a:r>
          </a:p>
          <a:p>
            <a:r>
              <a:rPr lang="en-US" b="1" dirty="0"/>
              <a:t>Strong Exception Handling:</a:t>
            </a:r>
            <a:r>
              <a:rPr lang="en-US" dirty="0"/>
              <a:t> Java provides a robust framework for exception handling, making it easier to write error-free code. </a:t>
            </a:r>
            <a:r>
              <a:rPr lang="en-US" b="1" dirty="0"/>
              <a:t>Security Features:</a:t>
            </a:r>
            <a:r>
              <a:rPr lang="en-US" dirty="0"/>
              <a:t> Java offers comprehensive security features, including bytecode verification, sandboxing, and built-in security APIs.</a:t>
            </a:r>
          </a:p>
          <a:p>
            <a:r>
              <a:rPr lang="en-US" b="1" dirty="0"/>
              <a:t>6. Multi-threading Capability</a:t>
            </a:r>
          </a:p>
          <a:p>
            <a:r>
              <a:rPr lang="en-US" b="1" dirty="0"/>
              <a:t>Concurrency Support:</a:t>
            </a:r>
            <a:r>
              <a:rPr lang="en-US" dirty="0"/>
              <a:t> Java has built-in support for multi-threading, allowing developers to write programs that can perform multiple tasks simultaneously, leading to more efficient and responsive applications.</a:t>
            </a:r>
          </a:p>
          <a:p>
            <a:endParaRPr lang="en-IN" dirty="0"/>
          </a:p>
        </p:txBody>
      </p:sp>
    </p:spTree>
    <p:extLst>
      <p:ext uri="{BB962C8B-B14F-4D97-AF65-F5344CB8AC3E}">
        <p14:creationId xmlns:p14="http://schemas.microsoft.com/office/powerpoint/2010/main" val="1757695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0D179-81B6-E3E4-F35F-8533FC80E998}"/>
              </a:ext>
            </a:extLst>
          </p:cNvPr>
          <p:cNvSpPr>
            <a:spLocks noGrp="1"/>
          </p:cNvSpPr>
          <p:nvPr>
            <p:ph idx="1"/>
          </p:nvPr>
        </p:nvSpPr>
        <p:spPr>
          <a:xfrm>
            <a:off x="833148" y="1003437"/>
            <a:ext cx="8946541" cy="4195481"/>
          </a:xfrm>
        </p:spPr>
        <p:txBody>
          <a:bodyPr/>
          <a:lstStyle/>
          <a:p>
            <a:r>
              <a:rPr lang="en-US" b="1" dirty="0"/>
              <a:t>. Community and Ecosystem</a:t>
            </a:r>
          </a:p>
          <a:p>
            <a:r>
              <a:rPr lang="en-US" b="1" dirty="0"/>
              <a:t>Large Developer Community:</a:t>
            </a:r>
            <a:r>
              <a:rPr lang="en-US" dirty="0"/>
              <a:t> Java has a vast and active developer community, offering extensive documentation, tutorials, and third-party libraries and frameworks. </a:t>
            </a:r>
            <a:r>
              <a:rPr lang="en-US" b="1" dirty="0"/>
              <a:t>Enterprise Adoption:</a:t>
            </a:r>
            <a:r>
              <a:rPr lang="en-US" dirty="0"/>
              <a:t> Java is widely used in enterprise environments, making it a valuable skill for developers in the job market.</a:t>
            </a:r>
          </a:p>
          <a:p>
            <a:r>
              <a:rPr lang="en-US" b="1" dirty="0"/>
              <a:t>8. Development Tools</a:t>
            </a:r>
          </a:p>
          <a:p>
            <a:r>
              <a:rPr lang="en-US" b="1" dirty="0"/>
              <a:t>Integrated Development Environments (IDEs):</a:t>
            </a:r>
            <a:r>
              <a:rPr lang="en-US" dirty="0"/>
              <a:t> There are several powerful IDEs available for Java development, such as Eclipse, IntelliJ IDEA, and NetBeans, which provide tools for code completion, debugging, and project management.</a:t>
            </a:r>
          </a:p>
        </p:txBody>
      </p:sp>
    </p:spTree>
    <p:extLst>
      <p:ext uri="{BB962C8B-B14F-4D97-AF65-F5344CB8AC3E}">
        <p14:creationId xmlns:p14="http://schemas.microsoft.com/office/powerpoint/2010/main" val="1706301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9EAF-DDF6-812F-60BE-F81FD647094A}"/>
              </a:ext>
            </a:extLst>
          </p:cNvPr>
          <p:cNvSpPr>
            <a:spLocks noGrp="1"/>
          </p:cNvSpPr>
          <p:nvPr>
            <p:ph type="title"/>
          </p:nvPr>
        </p:nvSpPr>
        <p:spPr/>
        <p:txBody>
          <a:bodyPr/>
          <a:lstStyle/>
          <a:p>
            <a:r>
              <a:rPr lang="en-IN" dirty="0"/>
              <a:t>Environments</a:t>
            </a:r>
          </a:p>
        </p:txBody>
      </p:sp>
      <p:sp>
        <p:nvSpPr>
          <p:cNvPr id="3" name="Content Placeholder 2">
            <a:extLst>
              <a:ext uri="{FF2B5EF4-FFF2-40B4-BE49-F238E27FC236}">
                <a16:creationId xmlns:a16="http://schemas.microsoft.com/office/drawing/2014/main" id="{D0281CED-9EFE-7D9A-FDAD-70589EF3320E}"/>
              </a:ext>
            </a:extLst>
          </p:cNvPr>
          <p:cNvSpPr>
            <a:spLocks noGrp="1"/>
          </p:cNvSpPr>
          <p:nvPr>
            <p:ph idx="1"/>
          </p:nvPr>
        </p:nvSpPr>
        <p:spPr/>
        <p:txBody>
          <a:bodyPr/>
          <a:lstStyle/>
          <a:p>
            <a:r>
              <a:rPr lang="en-US" b="1" dirty="0"/>
              <a:t>Integrated Development Environments (IDEs):</a:t>
            </a:r>
            <a:endParaRPr lang="en-US" dirty="0"/>
          </a:p>
          <a:p>
            <a:pPr>
              <a:buFont typeface="Arial" panose="020B0604020202020204" pitchFamily="34" charset="0"/>
              <a:buChar char="•"/>
            </a:pPr>
            <a:r>
              <a:rPr lang="en-US" b="1" dirty="0"/>
              <a:t>Eclipse:</a:t>
            </a:r>
            <a:r>
              <a:rPr lang="en-US" dirty="0"/>
              <a:t> A popular, open-source IDE for Java development.</a:t>
            </a:r>
          </a:p>
          <a:p>
            <a:pPr>
              <a:buFont typeface="Arial" panose="020B0604020202020204" pitchFamily="34" charset="0"/>
              <a:buChar char="•"/>
            </a:pPr>
            <a:r>
              <a:rPr lang="en-US" b="1" dirty="0"/>
              <a:t>IntelliJ IDEA:</a:t>
            </a:r>
            <a:r>
              <a:rPr lang="en-US" dirty="0"/>
              <a:t> A feature-rich, commercial IDE with a free community edition.</a:t>
            </a:r>
          </a:p>
          <a:p>
            <a:pPr>
              <a:buFont typeface="Arial" panose="020B0604020202020204" pitchFamily="34" charset="0"/>
              <a:buChar char="•"/>
            </a:pPr>
            <a:r>
              <a:rPr lang="en-US" b="1" dirty="0"/>
              <a:t>NetBeans:</a:t>
            </a:r>
            <a:r>
              <a:rPr lang="en-US" dirty="0"/>
              <a:t> An open-source IDE supported by the Apache Software Foundation.</a:t>
            </a:r>
          </a:p>
          <a:p>
            <a:pPr>
              <a:buFont typeface="Arial" panose="020B0604020202020204" pitchFamily="34" charset="0"/>
              <a:buChar char="•"/>
            </a:pPr>
            <a:r>
              <a:rPr lang="en-US" b="1" dirty="0"/>
              <a:t>Visual Studio Code:</a:t>
            </a:r>
            <a:r>
              <a:rPr lang="en-US" dirty="0"/>
              <a:t> A lightweight, open-source editor that supports Java through extensions.</a:t>
            </a:r>
          </a:p>
          <a:p>
            <a:endParaRPr lang="en-IN" dirty="0"/>
          </a:p>
        </p:txBody>
      </p:sp>
    </p:spTree>
    <p:extLst>
      <p:ext uri="{BB962C8B-B14F-4D97-AF65-F5344CB8AC3E}">
        <p14:creationId xmlns:p14="http://schemas.microsoft.com/office/powerpoint/2010/main" val="4083932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FE6A-F5ED-24E1-EF74-A2EFCABE918F}"/>
              </a:ext>
            </a:extLst>
          </p:cNvPr>
          <p:cNvSpPr>
            <a:spLocks noGrp="1"/>
          </p:cNvSpPr>
          <p:nvPr>
            <p:ph type="title"/>
          </p:nvPr>
        </p:nvSpPr>
        <p:spPr/>
        <p:txBody>
          <a:bodyPr/>
          <a:lstStyle/>
          <a:p>
            <a:r>
              <a:rPr lang="en-IN" dirty="0"/>
              <a:t>OOP</a:t>
            </a:r>
          </a:p>
        </p:txBody>
      </p:sp>
      <p:sp>
        <p:nvSpPr>
          <p:cNvPr id="3" name="Content Placeholder 2">
            <a:extLst>
              <a:ext uri="{FF2B5EF4-FFF2-40B4-BE49-F238E27FC236}">
                <a16:creationId xmlns:a16="http://schemas.microsoft.com/office/drawing/2014/main" id="{BA4C5CC7-C9E8-8FB0-09CA-DA50AA993256}"/>
              </a:ext>
            </a:extLst>
          </p:cNvPr>
          <p:cNvSpPr>
            <a:spLocks noGrp="1"/>
          </p:cNvSpPr>
          <p:nvPr>
            <p:ph idx="1"/>
          </p:nvPr>
        </p:nvSpPr>
        <p:spPr/>
        <p:txBody>
          <a:bodyPr/>
          <a:lstStyle/>
          <a:p>
            <a:r>
              <a:rPr lang="en-US" dirty="0"/>
              <a:t>Object-Oriented Programming (OOP) is a programming paradigm centered around the concept of "objects," which are instances of classes. OOP is designed to help organize and structure software in a more modular and reusable way. The four fundamental principles of OOP are encapsulation, inheritance, polymorphism, and abstraction. Here’s a detailed explanation of each concept:</a:t>
            </a:r>
            <a:endParaRPr lang="en-IN" dirty="0"/>
          </a:p>
        </p:txBody>
      </p:sp>
    </p:spTree>
    <p:extLst>
      <p:ext uri="{BB962C8B-B14F-4D97-AF65-F5344CB8AC3E}">
        <p14:creationId xmlns:p14="http://schemas.microsoft.com/office/powerpoint/2010/main" val="263825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C5640-1314-B84C-2E6C-132C7A51E911}"/>
              </a:ext>
            </a:extLst>
          </p:cNvPr>
          <p:cNvSpPr>
            <a:spLocks noGrp="1"/>
          </p:cNvSpPr>
          <p:nvPr>
            <p:ph type="title"/>
          </p:nvPr>
        </p:nvSpPr>
        <p:spPr/>
        <p:txBody>
          <a:bodyPr/>
          <a:lstStyle/>
          <a:p>
            <a:r>
              <a:rPr lang="en-IN" dirty="0"/>
              <a:t>Class </a:t>
            </a:r>
          </a:p>
        </p:txBody>
      </p:sp>
      <p:sp>
        <p:nvSpPr>
          <p:cNvPr id="3" name="Content Placeholder 2">
            <a:extLst>
              <a:ext uri="{FF2B5EF4-FFF2-40B4-BE49-F238E27FC236}">
                <a16:creationId xmlns:a16="http://schemas.microsoft.com/office/drawing/2014/main" id="{08496B75-3771-F73F-91E2-2EF2834CABE5}"/>
              </a:ext>
            </a:extLst>
          </p:cNvPr>
          <p:cNvSpPr>
            <a:spLocks noGrp="1"/>
          </p:cNvSpPr>
          <p:nvPr>
            <p:ph idx="1"/>
          </p:nvPr>
        </p:nvSpPr>
        <p:spPr/>
        <p:txBody>
          <a:bodyPr/>
          <a:lstStyle/>
          <a:p>
            <a:r>
              <a:rPr lang="en-US" b="1" dirty="0"/>
              <a:t>Class in Java</a:t>
            </a:r>
          </a:p>
          <a:p>
            <a:r>
              <a:rPr lang="en-US" b="1" dirty="0"/>
              <a:t>Definition:</a:t>
            </a:r>
            <a:r>
              <a:rPr lang="en-US" dirty="0"/>
              <a:t> A class in Java is a blueprint or template for creating objects. It defines a set of properties (fields) and methods (functions) that the objects created from the class will have. A class encapsulates data for the object and methods to manipulate that data.</a:t>
            </a:r>
          </a:p>
          <a:p>
            <a:r>
              <a:rPr lang="en-US" b="1" dirty="0"/>
              <a:t>Components of a Class:</a:t>
            </a:r>
            <a:endParaRPr lang="en-US" dirty="0"/>
          </a:p>
          <a:p>
            <a:pPr>
              <a:buFont typeface="Arial" panose="020B0604020202020204" pitchFamily="34" charset="0"/>
              <a:buChar char="•"/>
            </a:pPr>
            <a:r>
              <a:rPr lang="en-US" b="1" dirty="0"/>
              <a:t>Fields (Variables):</a:t>
            </a:r>
            <a:r>
              <a:rPr lang="en-US" dirty="0"/>
              <a:t> Represent the state or attributes of the class.</a:t>
            </a:r>
          </a:p>
          <a:p>
            <a:pPr>
              <a:buFont typeface="Arial" panose="020B0604020202020204" pitchFamily="34" charset="0"/>
              <a:buChar char="•"/>
            </a:pPr>
            <a:r>
              <a:rPr lang="en-US" b="1" dirty="0"/>
              <a:t>Methods:</a:t>
            </a:r>
            <a:r>
              <a:rPr lang="en-US" dirty="0"/>
              <a:t> Define the behavior or functions that the objects of the class can perform.</a:t>
            </a:r>
          </a:p>
          <a:p>
            <a:pPr>
              <a:buFont typeface="Arial" panose="020B0604020202020204" pitchFamily="34" charset="0"/>
              <a:buChar char="•"/>
            </a:pPr>
            <a:r>
              <a:rPr lang="en-US" b="1" dirty="0"/>
              <a:t>Constructors:</a:t>
            </a:r>
            <a:r>
              <a:rPr lang="en-US" dirty="0"/>
              <a:t> Special methods used to initialize objects.</a:t>
            </a:r>
          </a:p>
          <a:p>
            <a:endParaRPr lang="en-IN" dirty="0"/>
          </a:p>
        </p:txBody>
      </p:sp>
    </p:spTree>
    <p:extLst>
      <p:ext uri="{BB962C8B-B14F-4D97-AF65-F5344CB8AC3E}">
        <p14:creationId xmlns:p14="http://schemas.microsoft.com/office/powerpoint/2010/main" val="27526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C42-5927-6A0B-373F-E27A6A3D0810}"/>
              </a:ext>
            </a:extLst>
          </p:cNvPr>
          <p:cNvSpPr>
            <a:spLocks noGrp="1"/>
          </p:cNvSpPr>
          <p:nvPr>
            <p:ph type="title"/>
          </p:nvPr>
        </p:nvSpPr>
        <p:spPr/>
        <p:txBody>
          <a:bodyPr/>
          <a:lstStyle/>
          <a:p>
            <a:r>
              <a:rPr lang="en-IN" b="1" u="sng" dirty="0"/>
              <a:t>Functions</a:t>
            </a:r>
          </a:p>
        </p:txBody>
      </p:sp>
      <p:sp>
        <p:nvSpPr>
          <p:cNvPr id="3" name="Content Placeholder 2">
            <a:extLst>
              <a:ext uri="{FF2B5EF4-FFF2-40B4-BE49-F238E27FC236}">
                <a16:creationId xmlns:a16="http://schemas.microsoft.com/office/drawing/2014/main" id="{26ED62EA-133F-FEDE-F4D6-CF0736475FCF}"/>
              </a:ext>
            </a:extLst>
          </p:cNvPr>
          <p:cNvSpPr>
            <a:spLocks noGrp="1"/>
          </p:cNvSpPr>
          <p:nvPr>
            <p:ph idx="1"/>
          </p:nvPr>
        </p:nvSpPr>
        <p:spPr>
          <a:xfrm>
            <a:off x="1103312" y="2052918"/>
            <a:ext cx="9713624" cy="4195481"/>
          </a:xfrm>
        </p:spPr>
        <p:txBody>
          <a:bodyPr/>
          <a:lstStyle/>
          <a:p>
            <a:pPr marL="0" indent="0">
              <a:buNone/>
            </a:pPr>
            <a:r>
              <a:rPr lang="en-IN" sz="4400" dirty="0">
                <a:latin typeface="Times New Roman" panose="02020603050405020304" pitchFamily="18" charset="0"/>
                <a:cs typeface="Times New Roman" panose="02020603050405020304" pitchFamily="18" charset="0"/>
              </a:rPr>
              <a:t>A code which gets executed to perform any task is called Function.</a:t>
            </a:r>
          </a:p>
          <a:p>
            <a:r>
              <a:rPr lang="en-IN" sz="4400" dirty="0">
                <a:latin typeface="Times New Roman" panose="02020603050405020304" pitchFamily="18" charset="0"/>
                <a:cs typeface="Times New Roman" panose="02020603050405020304" pitchFamily="18" charset="0"/>
              </a:rPr>
              <a:t>Example.</a:t>
            </a:r>
          </a:p>
          <a:p>
            <a:pPr marL="0" indent="0">
              <a:buNone/>
            </a:pPr>
            <a:r>
              <a:rPr lang="en-IN" sz="4400" dirty="0">
                <a:latin typeface="Times New Roman" panose="02020603050405020304" pitchFamily="18" charset="0"/>
                <a:cs typeface="Times New Roman" panose="02020603050405020304" pitchFamily="18" charset="0"/>
              </a:rPr>
              <a:t>          87</a:t>
            </a:r>
          </a:p>
          <a:p>
            <a:pPr marL="0" indent="0">
              <a:buNone/>
            </a:pPr>
            <a:r>
              <a:rPr lang="en-IN" sz="4400" dirty="0">
                <a:latin typeface="Times New Roman" panose="02020603050405020304" pitchFamily="18" charset="0"/>
                <a:cs typeface="Times New Roman" panose="02020603050405020304" pitchFamily="18" charset="0"/>
              </a:rPr>
              <a:t>       </a:t>
            </a:r>
            <a:r>
              <a:rPr lang="en-IN" sz="4400" u="sng" dirty="0">
                <a:latin typeface="Times New Roman" panose="02020603050405020304" pitchFamily="18" charset="0"/>
                <a:cs typeface="Times New Roman" panose="02020603050405020304" pitchFamily="18" charset="0"/>
              </a:rPr>
              <a:t>+ 87</a:t>
            </a:r>
          </a:p>
          <a:p>
            <a:endParaRPr lang="en-IN" dirty="0"/>
          </a:p>
        </p:txBody>
      </p:sp>
    </p:spTree>
    <p:extLst>
      <p:ext uri="{BB962C8B-B14F-4D97-AF65-F5344CB8AC3E}">
        <p14:creationId xmlns:p14="http://schemas.microsoft.com/office/powerpoint/2010/main" val="2588195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4ED8D-0BE1-37E4-B246-CB10BE1A4E6E}"/>
              </a:ext>
            </a:extLst>
          </p:cNvPr>
          <p:cNvSpPr>
            <a:spLocks noGrp="1"/>
          </p:cNvSpPr>
          <p:nvPr>
            <p:ph type="title"/>
          </p:nvPr>
        </p:nvSpPr>
        <p:spPr/>
        <p:txBody>
          <a:bodyPr/>
          <a:lstStyle/>
          <a:p>
            <a:r>
              <a:rPr lang="en-IN" dirty="0"/>
              <a:t>Function and Class</a:t>
            </a:r>
          </a:p>
        </p:txBody>
      </p:sp>
      <p:sp>
        <p:nvSpPr>
          <p:cNvPr id="3" name="Content Placeholder 2">
            <a:extLst>
              <a:ext uri="{FF2B5EF4-FFF2-40B4-BE49-F238E27FC236}">
                <a16:creationId xmlns:a16="http://schemas.microsoft.com/office/drawing/2014/main" id="{F9F088A1-B63B-F584-8C1D-BB3BB81AA73C}"/>
              </a:ext>
            </a:extLst>
          </p:cNvPr>
          <p:cNvSpPr>
            <a:spLocks noGrp="1"/>
          </p:cNvSpPr>
          <p:nvPr>
            <p:ph idx="1"/>
          </p:nvPr>
        </p:nvSpPr>
        <p:spPr/>
        <p:txBody>
          <a:bodyPr>
            <a:normAutofit/>
          </a:bodyPr>
          <a:lstStyle/>
          <a:p>
            <a:r>
              <a:rPr lang="en-IN" sz="4000" dirty="0">
                <a:latin typeface="Times New Roman" panose="02020603050405020304" pitchFamily="18" charset="0"/>
                <a:cs typeface="Times New Roman" panose="02020603050405020304" pitchFamily="18" charset="0"/>
              </a:rPr>
              <a:t>Function                                    </a:t>
            </a:r>
          </a:p>
          <a:p>
            <a:endParaRPr lang="en-IN" sz="4000" dirty="0">
              <a:latin typeface="Times New Roman" panose="02020603050405020304" pitchFamily="18" charset="0"/>
              <a:cs typeface="Times New Roman" panose="02020603050405020304" pitchFamily="18" charset="0"/>
            </a:endParaRPr>
          </a:p>
          <a:p>
            <a:pPr marL="0" indent="0">
              <a:buNone/>
            </a:pPr>
            <a:r>
              <a:rPr lang="en-IN" sz="3000" dirty="0">
                <a:latin typeface="Times New Roman" panose="02020603050405020304" pitchFamily="18" charset="0"/>
                <a:cs typeface="Times New Roman" panose="02020603050405020304" pitchFamily="18" charset="0"/>
              </a:rPr>
              <a:t>A code which gets executed to perform any task </a:t>
            </a:r>
          </a:p>
          <a:p>
            <a:endParaRPr lang="en-IN" sz="4000" dirty="0">
              <a:latin typeface="Times New Roman" panose="02020603050405020304" pitchFamily="18" charset="0"/>
              <a:cs typeface="Times New Roman" panose="02020603050405020304" pitchFamily="18" charset="0"/>
            </a:endParaRPr>
          </a:p>
          <a:p>
            <a:r>
              <a:rPr lang="en-IN" sz="4000" dirty="0">
                <a:latin typeface="Times New Roman" panose="02020603050405020304" pitchFamily="18" charset="0"/>
                <a:cs typeface="Times New Roman" panose="02020603050405020304" pitchFamily="18" charset="0"/>
              </a:rPr>
              <a:t>Class</a:t>
            </a:r>
          </a:p>
          <a:p>
            <a:pPr marL="0" indent="0">
              <a:buNone/>
            </a:pPr>
            <a:r>
              <a:rPr lang="en-IN" sz="3000" dirty="0">
                <a:latin typeface="Times New Roman" panose="02020603050405020304" pitchFamily="18" charset="0"/>
                <a:cs typeface="Times New Roman" panose="02020603050405020304" pitchFamily="18" charset="0"/>
              </a:rPr>
              <a:t>Group</a:t>
            </a:r>
          </a:p>
        </p:txBody>
      </p:sp>
      <p:cxnSp>
        <p:nvCxnSpPr>
          <p:cNvPr id="5" name="Straight Arrow Connector 4">
            <a:extLst>
              <a:ext uri="{FF2B5EF4-FFF2-40B4-BE49-F238E27FC236}">
                <a16:creationId xmlns:a16="http://schemas.microsoft.com/office/drawing/2014/main" id="{B6474752-1336-CD51-E251-C06D8B05666D}"/>
              </a:ext>
            </a:extLst>
          </p:cNvPr>
          <p:cNvCxnSpPr>
            <a:cxnSpLocks/>
          </p:cNvCxnSpPr>
          <p:nvPr/>
        </p:nvCxnSpPr>
        <p:spPr>
          <a:xfrm>
            <a:off x="3543300" y="2462645"/>
            <a:ext cx="38342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BB1A4916-D9F5-7129-1A3E-B729EB03AE0F}"/>
              </a:ext>
            </a:extLst>
          </p:cNvPr>
          <p:cNvCxnSpPr/>
          <p:nvPr/>
        </p:nvCxnSpPr>
        <p:spPr>
          <a:xfrm flipV="1">
            <a:off x="2826327" y="5278582"/>
            <a:ext cx="4748646" cy="727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Oval 8">
            <a:extLst>
              <a:ext uri="{FF2B5EF4-FFF2-40B4-BE49-F238E27FC236}">
                <a16:creationId xmlns:a16="http://schemas.microsoft.com/office/drawing/2014/main" id="{AA11CE3D-4093-214A-C805-9277259BFA68}"/>
              </a:ext>
            </a:extLst>
          </p:cNvPr>
          <p:cNvSpPr/>
          <p:nvPr/>
        </p:nvSpPr>
        <p:spPr>
          <a:xfrm>
            <a:off x="7897091" y="1454727"/>
            <a:ext cx="2327564" cy="20573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CARPENTER</a:t>
            </a:r>
          </a:p>
        </p:txBody>
      </p:sp>
      <p:sp>
        <p:nvSpPr>
          <p:cNvPr id="10" name="Oval 9">
            <a:extLst>
              <a:ext uri="{FF2B5EF4-FFF2-40B4-BE49-F238E27FC236}">
                <a16:creationId xmlns:a16="http://schemas.microsoft.com/office/drawing/2014/main" id="{3229B422-903D-1A23-BC0D-D3215CF3FD4B}"/>
              </a:ext>
            </a:extLst>
          </p:cNvPr>
          <p:cNvSpPr/>
          <p:nvPr/>
        </p:nvSpPr>
        <p:spPr>
          <a:xfrm>
            <a:off x="7897091" y="4499264"/>
            <a:ext cx="2670464" cy="17491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HOUSEHOLD REPAIR</a:t>
            </a:r>
          </a:p>
        </p:txBody>
      </p:sp>
    </p:spTree>
    <p:extLst>
      <p:ext uri="{BB962C8B-B14F-4D97-AF65-F5344CB8AC3E}">
        <p14:creationId xmlns:p14="http://schemas.microsoft.com/office/powerpoint/2010/main" val="1064580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741E2-A59F-608D-237A-297CF951E3AF}"/>
              </a:ext>
            </a:extLst>
          </p:cNvPr>
          <p:cNvSpPr>
            <a:spLocks noGrp="1"/>
          </p:cNvSpPr>
          <p:nvPr>
            <p:ph type="title"/>
          </p:nvPr>
        </p:nvSpPr>
        <p:spPr/>
        <p:txBody>
          <a:bodyPr/>
          <a:lstStyle/>
          <a:p>
            <a:r>
              <a:rPr lang="en-IN" dirty="0"/>
              <a:t>Object</a:t>
            </a:r>
          </a:p>
        </p:txBody>
      </p:sp>
      <p:sp>
        <p:nvSpPr>
          <p:cNvPr id="3" name="Content Placeholder 2">
            <a:extLst>
              <a:ext uri="{FF2B5EF4-FFF2-40B4-BE49-F238E27FC236}">
                <a16:creationId xmlns:a16="http://schemas.microsoft.com/office/drawing/2014/main" id="{19FACAAD-715A-E580-F637-335A12BC79A1}"/>
              </a:ext>
            </a:extLst>
          </p:cNvPr>
          <p:cNvSpPr>
            <a:spLocks noGrp="1"/>
          </p:cNvSpPr>
          <p:nvPr>
            <p:ph idx="1"/>
          </p:nvPr>
        </p:nvSpPr>
        <p:spPr/>
        <p:txBody>
          <a:bodyPr>
            <a:normAutofit fontScale="85000" lnSpcReduction="2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p>
          <a:p>
            <a:pPr marL="0" indent="0">
              <a:buNone/>
            </a:pPr>
            <a:r>
              <a:rPr lang="en-IN" dirty="0"/>
              <a:t>  </a:t>
            </a:r>
          </a:p>
          <a:p>
            <a:pPr marL="0" indent="0">
              <a:buNone/>
            </a:pPr>
            <a:r>
              <a:rPr lang="en-IN" dirty="0"/>
              <a:t>                                                                                       Form creation :Kind of Work</a:t>
            </a:r>
          </a:p>
          <a:p>
            <a:pPr marL="0" indent="0">
              <a:buNone/>
            </a:pPr>
            <a:r>
              <a:rPr lang="en-IN" dirty="0"/>
              <a:t>                                                                                       Repair Name</a:t>
            </a:r>
          </a:p>
          <a:p>
            <a:pPr marL="0" indent="0">
              <a:buNone/>
            </a:pPr>
            <a:r>
              <a:rPr lang="en-IN" dirty="0"/>
              <a:t>                                                                                       Payment</a:t>
            </a:r>
          </a:p>
        </p:txBody>
      </p:sp>
      <p:sp>
        <p:nvSpPr>
          <p:cNvPr id="4" name="Oval 3">
            <a:extLst>
              <a:ext uri="{FF2B5EF4-FFF2-40B4-BE49-F238E27FC236}">
                <a16:creationId xmlns:a16="http://schemas.microsoft.com/office/drawing/2014/main" id="{6D4BD3E3-1F4E-94D6-72CE-93B6EA879BF1}"/>
              </a:ext>
            </a:extLst>
          </p:cNvPr>
          <p:cNvSpPr/>
          <p:nvPr/>
        </p:nvSpPr>
        <p:spPr>
          <a:xfrm>
            <a:off x="3636818" y="1286232"/>
            <a:ext cx="2951018" cy="228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HOUSEHOLD WEBSITE</a:t>
            </a:r>
          </a:p>
        </p:txBody>
      </p:sp>
      <p:cxnSp>
        <p:nvCxnSpPr>
          <p:cNvPr id="6" name="Straight Arrow Connector 5">
            <a:extLst>
              <a:ext uri="{FF2B5EF4-FFF2-40B4-BE49-F238E27FC236}">
                <a16:creationId xmlns:a16="http://schemas.microsoft.com/office/drawing/2014/main" id="{A9F7AA45-CD9A-83E1-518D-A2A366E0CD5A}"/>
              </a:ext>
            </a:extLst>
          </p:cNvPr>
          <p:cNvCxnSpPr/>
          <p:nvPr/>
        </p:nvCxnSpPr>
        <p:spPr>
          <a:xfrm>
            <a:off x="5237019" y="3572232"/>
            <a:ext cx="0" cy="15378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978AAB0B-D18C-070F-D554-8A08F2F72E3F}"/>
              </a:ext>
            </a:extLst>
          </p:cNvPr>
          <p:cNvSpPr/>
          <p:nvPr/>
        </p:nvSpPr>
        <p:spPr>
          <a:xfrm>
            <a:off x="4289717" y="5110086"/>
            <a:ext cx="1645219" cy="10390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Tree>
    <p:extLst>
      <p:ext uri="{BB962C8B-B14F-4D97-AF65-F5344CB8AC3E}">
        <p14:creationId xmlns:p14="http://schemas.microsoft.com/office/powerpoint/2010/main" val="2600789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4770E-307B-DA64-F7B7-7B1A2EC9FCD4}"/>
              </a:ext>
            </a:extLst>
          </p:cNvPr>
          <p:cNvSpPr>
            <a:spLocks noGrp="1"/>
          </p:cNvSpPr>
          <p:nvPr>
            <p:ph type="title"/>
          </p:nvPr>
        </p:nvSpPr>
        <p:spPr/>
        <p:txBody>
          <a:bodyPr/>
          <a:lstStyle/>
          <a:p>
            <a:r>
              <a:rPr lang="en-IN" dirty="0"/>
              <a:t>Objects</a:t>
            </a:r>
          </a:p>
        </p:txBody>
      </p:sp>
      <p:sp>
        <p:nvSpPr>
          <p:cNvPr id="4" name="Rectangle 1">
            <a:extLst>
              <a:ext uri="{FF2B5EF4-FFF2-40B4-BE49-F238E27FC236}">
                <a16:creationId xmlns:a16="http://schemas.microsoft.com/office/drawing/2014/main" id="{8BBDAF2E-3F41-AEC6-2FF6-B4EE8BAD5E16}"/>
              </a:ext>
            </a:extLst>
          </p:cNvPr>
          <p:cNvSpPr>
            <a:spLocks noGrp="1" noChangeArrowheads="1"/>
          </p:cNvSpPr>
          <p:nvPr>
            <p:ph idx="1"/>
          </p:nvPr>
        </p:nvSpPr>
        <p:spPr bwMode="auto">
          <a:xfrm>
            <a:off x="801975" y="1799313"/>
            <a:ext cx="9724016" cy="3524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An object is an instance of a class. When a class is defined, no memory is allocated until an object of that class is created. Objects are the real-world entities that hold specific data and have specific behavior defined by the class.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Creating an Object: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 the </a:t>
            </a:r>
            <a:r>
              <a:rPr kumimoji="0" lang="en-US" altLang="en-US" sz="2800" b="0" i="0" u="none" strike="noStrike" cap="none" normalizeH="0" baseline="0" dirty="0">
                <a:ln>
                  <a:noFill/>
                </a:ln>
                <a:solidFill>
                  <a:schemeClr val="tx1"/>
                </a:solidFill>
                <a:effectLst/>
                <a:latin typeface="Arial Unicode MS"/>
              </a:rPr>
              <a:t>new</a:t>
            </a:r>
            <a:r>
              <a:rPr kumimoji="0" lang="en-US" altLang="en-US" sz="2800" b="0" i="0" u="none" strike="noStrike" cap="none" normalizeH="0" baseline="0" dirty="0">
                <a:ln>
                  <a:noFill/>
                </a:ln>
                <a:solidFill>
                  <a:schemeClr val="tx1"/>
                </a:solidFill>
                <a:effectLst/>
              </a:rPr>
              <a:t> keyword followed by the class constructor.</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constructor initializes the new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7937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9DA3-E046-7265-D4D2-C7B5EB324C84}"/>
              </a:ext>
            </a:extLst>
          </p:cNvPr>
          <p:cNvSpPr>
            <a:spLocks noGrp="1"/>
          </p:cNvSpPr>
          <p:nvPr>
            <p:ph type="title"/>
          </p:nvPr>
        </p:nvSpPr>
        <p:spPr/>
        <p:txBody>
          <a:bodyPr/>
          <a:lstStyle/>
          <a:p>
            <a:r>
              <a:rPr lang="en-IN" dirty="0"/>
              <a:t>Example</a:t>
            </a:r>
          </a:p>
        </p:txBody>
      </p:sp>
      <p:sp>
        <p:nvSpPr>
          <p:cNvPr id="4" name="Content Placeholder 3">
            <a:extLst>
              <a:ext uri="{FF2B5EF4-FFF2-40B4-BE49-F238E27FC236}">
                <a16:creationId xmlns:a16="http://schemas.microsoft.com/office/drawing/2014/main" id="{1B997670-505A-A1F9-9EF4-11F275EAF2B1}"/>
              </a:ext>
            </a:extLst>
          </p:cNvPr>
          <p:cNvSpPr>
            <a:spLocks noGrp="1"/>
          </p:cNvSpPr>
          <p:nvPr>
            <p:ph idx="1"/>
          </p:nvPr>
        </p:nvSpPr>
        <p:spPr>
          <a:xfrm>
            <a:off x="1104293" y="1252818"/>
            <a:ext cx="8946541" cy="4195481"/>
          </a:xfrm>
        </p:spPr>
        <p:txBody>
          <a:bodyPr>
            <a:noAutofit/>
          </a:bodyPr>
          <a:lstStyle/>
          <a:p>
            <a:r>
              <a:rPr lang="en-IN" sz="3200" dirty="0">
                <a:latin typeface="Times New Roman" panose="02020603050405020304" pitchFamily="18" charset="0"/>
                <a:cs typeface="Times New Roman" panose="02020603050405020304" pitchFamily="18" charset="0"/>
              </a:rPr>
              <a:t>Package </a:t>
            </a:r>
            <a:r>
              <a:rPr lang="en-IN" sz="3200" dirty="0" err="1">
                <a:latin typeface="Times New Roman" panose="02020603050405020304" pitchFamily="18" charset="0"/>
                <a:cs typeface="Times New Roman" panose="02020603050405020304" pitchFamily="18" charset="0"/>
              </a:rPr>
              <a:t>com.website</a:t>
            </a:r>
            <a:endParaRPr lang="en-IN" sz="3200" dirty="0">
              <a:latin typeface="Times New Roman" panose="02020603050405020304" pitchFamily="18" charset="0"/>
              <a:cs typeface="Times New Roman" panose="02020603050405020304" pitchFamily="18" charset="0"/>
            </a:endParaRPr>
          </a:p>
          <a:p>
            <a:pPr marL="0" indent="0">
              <a:buNone/>
            </a:pPr>
            <a:r>
              <a:rPr lang="en-IN" sz="3200" dirty="0">
                <a:latin typeface="Times New Roman" panose="02020603050405020304" pitchFamily="18" charset="0"/>
                <a:cs typeface="Times New Roman" panose="02020603050405020304" pitchFamily="18" charset="0"/>
              </a:rPr>
              <a:t>     public class Main</a:t>
            </a:r>
          </a:p>
          <a:p>
            <a:pPr marL="0" indent="0">
              <a:buNone/>
            </a:pPr>
            <a:r>
              <a:rPr lang="en-IN" sz="3200" dirty="0">
                <a:latin typeface="Times New Roman" panose="02020603050405020304" pitchFamily="18" charset="0"/>
                <a:cs typeface="Times New Roman" panose="02020603050405020304" pitchFamily="18" charset="0"/>
              </a:rPr>
              <a:t> {</a:t>
            </a:r>
          </a:p>
          <a:p>
            <a:pPr marL="0" indent="0">
              <a:buNone/>
            </a:pPr>
            <a:r>
              <a:rPr lang="en-IN" sz="3200" dirty="0">
                <a:latin typeface="Times New Roman" panose="02020603050405020304" pitchFamily="18" charset="0"/>
                <a:cs typeface="Times New Roman" panose="02020603050405020304" pitchFamily="18" charset="0"/>
              </a:rPr>
              <a:t>        public static void main(String[]</a:t>
            </a:r>
            <a:r>
              <a:rPr lang="en-IN" sz="3200" dirty="0" err="1">
                <a:latin typeface="Times New Roman" panose="02020603050405020304" pitchFamily="18" charset="0"/>
                <a:cs typeface="Times New Roman" panose="02020603050405020304" pitchFamily="18" charset="0"/>
              </a:rPr>
              <a:t>args</a:t>
            </a:r>
            <a:r>
              <a:rPr lang="en-IN" sz="3200" dirty="0">
                <a:latin typeface="Times New Roman" panose="02020603050405020304" pitchFamily="18" charset="0"/>
                <a:cs typeface="Times New Roman" panose="02020603050405020304" pitchFamily="18" charset="0"/>
              </a:rPr>
              <a:t>)</a:t>
            </a:r>
          </a:p>
          <a:p>
            <a:pPr marL="0" indent="0">
              <a:buNone/>
            </a:pPr>
            <a:r>
              <a:rPr lang="en-IN" sz="3200" dirty="0">
                <a:latin typeface="Times New Roman" panose="02020603050405020304" pitchFamily="18" charset="0"/>
                <a:cs typeface="Times New Roman" panose="02020603050405020304" pitchFamily="18" charset="0"/>
              </a:rPr>
              <a:t>      {</a:t>
            </a:r>
          </a:p>
          <a:p>
            <a:pPr marL="0" indent="0">
              <a:buNone/>
            </a:pPr>
            <a:r>
              <a:rPr lang="en-IN" sz="3200" dirty="0">
                <a:latin typeface="Times New Roman" panose="02020603050405020304" pitchFamily="18" charset="0"/>
                <a:cs typeface="Times New Roman" panose="02020603050405020304" pitchFamily="18" charset="0"/>
              </a:rPr>
              <a:t>          //Write your code here</a:t>
            </a:r>
          </a:p>
          <a:p>
            <a:pPr marL="0" indent="0">
              <a:buNone/>
            </a:pPr>
            <a:r>
              <a:rPr lang="en-IN" sz="3200" dirty="0">
                <a:latin typeface="Times New Roman" panose="02020603050405020304" pitchFamily="18" charset="0"/>
                <a:cs typeface="Times New Roman" panose="02020603050405020304" pitchFamily="18" charset="0"/>
              </a:rPr>
              <a:t>        System.out println(“Hello World”);</a:t>
            </a:r>
          </a:p>
          <a:p>
            <a:pPr marL="0" indent="0">
              <a:buNone/>
            </a:pPr>
            <a:r>
              <a:rPr lang="en-IN" sz="3200" dirty="0">
                <a:latin typeface="Times New Roman" panose="02020603050405020304" pitchFamily="18" charset="0"/>
                <a:cs typeface="Times New Roman" panose="02020603050405020304" pitchFamily="18" charset="0"/>
              </a:rPr>
              <a:t>       }</a:t>
            </a:r>
          </a:p>
          <a:p>
            <a:pPr marL="0" indent="0">
              <a:buNone/>
            </a:pPr>
            <a:r>
              <a:rPr lang="en-IN"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75729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AD80C-9B90-0036-E340-EC63D75CB2EF}"/>
              </a:ext>
            </a:extLst>
          </p:cNvPr>
          <p:cNvSpPr>
            <a:spLocks noGrp="1"/>
          </p:cNvSpPr>
          <p:nvPr>
            <p:ph type="title"/>
          </p:nvPr>
        </p:nvSpPr>
        <p:spPr/>
        <p:txBody>
          <a:bodyPr/>
          <a:lstStyle/>
          <a:p>
            <a:r>
              <a:rPr lang="en-IN" dirty="0"/>
              <a:t>Let us understand .</a:t>
            </a:r>
          </a:p>
        </p:txBody>
      </p:sp>
      <p:sp>
        <p:nvSpPr>
          <p:cNvPr id="3" name="Content Placeholder 2">
            <a:extLst>
              <a:ext uri="{FF2B5EF4-FFF2-40B4-BE49-F238E27FC236}">
                <a16:creationId xmlns:a16="http://schemas.microsoft.com/office/drawing/2014/main" id="{B5DD056A-C796-0ED8-8512-F1A74F6E7393}"/>
              </a:ext>
            </a:extLst>
          </p:cNvPr>
          <p:cNvSpPr>
            <a:spLocks noGrp="1"/>
          </p:cNvSpPr>
          <p:nvPr>
            <p:ph idx="1"/>
          </p:nvPr>
        </p:nvSpPr>
        <p:spPr>
          <a:xfrm>
            <a:off x="875201" y="1331259"/>
            <a:ext cx="8946541" cy="4195481"/>
          </a:xfrm>
        </p:spPr>
        <p:txBody>
          <a:bodyPr>
            <a:noAutofit/>
          </a:bodyPr>
          <a:lstStyle/>
          <a:p>
            <a:r>
              <a:rPr lang="en-IN" sz="3200" dirty="0">
                <a:latin typeface="Times New Roman" panose="02020603050405020304" pitchFamily="18" charset="0"/>
                <a:cs typeface="Times New Roman" panose="02020603050405020304" pitchFamily="18" charset="0"/>
              </a:rPr>
              <a:t>Com.company ; ----A package in Java is used to group which can be related to class.</a:t>
            </a:r>
          </a:p>
          <a:p>
            <a:r>
              <a:rPr lang="en-IN" sz="3200" dirty="0">
                <a:latin typeface="Times New Roman" panose="02020603050405020304" pitchFamily="18" charset="0"/>
                <a:cs typeface="Times New Roman" panose="02020603050405020304" pitchFamily="18" charset="0"/>
              </a:rPr>
              <a:t>Public --- This means this method can be accessed from anywhere.</a:t>
            </a:r>
          </a:p>
          <a:p>
            <a:r>
              <a:rPr lang="en-IN" sz="3200" dirty="0">
                <a:latin typeface="Times New Roman" panose="02020603050405020304" pitchFamily="18" charset="0"/>
                <a:cs typeface="Times New Roman" panose="02020603050405020304" pitchFamily="18" charset="0"/>
              </a:rPr>
              <a:t>Main --- It is the class.</a:t>
            </a:r>
          </a:p>
          <a:p>
            <a:r>
              <a:rPr lang="en-IN" sz="3200" dirty="0">
                <a:latin typeface="Times New Roman" panose="02020603050405020304" pitchFamily="18" charset="0"/>
                <a:cs typeface="Times New Roman" panose="02020603050405020304" pitchFamily="18" charset="0"/>
              </a:rPr>
              <a:t>Static --- This helps the program without any object.</a:t>
            </a:r>
          </a:p>
          <a:p>
            <a:r>
              <a:rPr lang="en-IN" sz="3200" dirty="0">
                <a:latin typeface="Times New Roman" panose="02020603050405020304" pitchFamily="18" charset="0"/>
                <a:cs typeface="Times New Roman" panose="02020603050405020304" pitchFamily="18" charset="0"/>
              </a:rPr>
              <a:t>Void ---- In this program the function does not provide any return so it is empty that’s why we used void here.</a:t>
            </a:r>
          </a:p>
        </p:txBody>
      </p:sp>
    </p:spTree>
    <p:extLst>
      <p:ext uri="{BB962C8B-B14F-4D97-AF65-F5344CB8AC3E}">
        <p14:creationId xmlns:p14="http://schemas.microsoft.com/office/powerpoint/2010/main" val="2812349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2AEC0-DBA9-0579-3E19-4069FB88D060}"/>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C968E01F-51A0-B72B-2DCC-739F9952B2B2}"/>
              </a:ext>
            </a:extLst>
          </p:cNvPr>
          <p:cNvSpPr>
            <a:spLocks noGrp="1"/>
          </p:cNvSpPr>
          <p:nvPr>
            <p:ph idx="1"/>
          </p:nvPr>
        </p:nvSpPr>
        <p:spPr>
          <a:xfrm>
            <a:off x="1579418" y="1273296"/>
            <a:ext cx="4423064" cy="1241000"/>
          </a:xfrm>
        </p:spPr>
        <p:txBody>
          <a:bodyPr>
            <a:normAutofit/>
          </a:bodyPr>
          <a:lstStyle/>
          <a:p>
            <a:endParaRPr lang="en-IN" sz="4000" dirty="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570B07F5-55F2-BF87-BAC6-750F708F8961}"/>
              </a:ext>
            </a:extLst>
          </p:cNvPr>
          <p:cNvSpPr>
            <a:spLocks noChangeArrowheads="1"/>
          </p:cNvSpPr>
          <p:nvPr/>
        </p:nvSpPr>
        <p:spPr bwMode="auto">
          <a:xfrm>
            <a:off x="646111" y="955308"/>
            <a:ext cx="1057607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main --- Functions</a:t>
            </a:r>
          </a:p>
          <a:p>
            <a:pPr>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System.out –Output</a:t>
            </a:r>
          </a:p>
          <a:p>
            <a:pPr>
              <a:buFont typeface="Wingdings" panose="05000000000000000000" pitchFamily="2" charset="2"/>
              <a:buChar char="Ø"/>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Println ---This is the general action performed by the method.   It takes data and writes it to the console (or another output stream).  ln: This most likely stands for "line" because the   println method does two things:</a:t>
            </a:r>
          </a:p>
          <a:p>
            <a:pPr>
              <a:buFont typeface="Wingdings" panose="05000000000000000000" pitchFamily="2" charset="2"/>
              <a:buChar char="Ø"/>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Prints the provided data to the console.</a:t>
            </a:r>
          </a:p>
          <a:p>
            <a:pPr>
              <a:buFont typeface="Wingdings" panose="05000000000000000000" pitchFamily="2" charset="2"/>
              <a:buChar char="Ø"/>
            </a:pPr>
            <a:r>
              <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Moves the cursor to the next line</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printing.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847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5B8C7-2789-EEDD-4D10-BDE419D19474}"/>
              </a:ext>
            </a:extLst>
          </p:cNvPr>
          <p:cNvSpPr>
            <a:spLocks noGrp="1"/>
          </p:cNvSpPr>
          <p:nvPr>
            <p:ph type="title"/>
          </p:nvPr>
        </p:nvSpPr>
        <p:spPr/>
        <p:txBody>
          <a:bodyPr/>
          <a:lstStyle/>
          <a:p>
            <a:r>
              <a:rPr lang="en-IN" dirty="0"/>
              <a:t>Naming Conventions</a:t>
            </a:r>
          </a:p>
        </p:txBody>
      </p:sp>
      <p:pic>
        <p:nvPicPr>
          <p:cNvPr id="9" name="Content Placeholder 4">
            <a:extLst>
              <a:ext uri="{FF2B5EF4-FFF2-40B4-BE49-F238E27FC236}">
                <a16:creationId xmlns:a16="http://schemas.microsoft.com/office/drawing/2014/main" id="{875B5B77-48AD-8E44-D454-C27BC31F7C88}"/>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893618" y="1462401"/>
            <a:ext cx="5708866" cy="4210943"/>
          </a:xfrm>
        </p:spPr>
      </p:pic>
      <p:pic>
        <p:nvPicPr>
          <p:cNvPr id="11" name="Picture 10">
            <a:extLst>
              <a:ext uri="{FF2B5EF4-FFF2-40B4-BE49-F238E27FC236}">
                <a16:creationId xmlns:a16="http://schemas.microsoft.com/office/drawing/2014/main" id="{03643E30-7EAC-1876-5A93-D13E78FBD975}"/>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795654" y="1413164"/>
            <a:ext cx="5112328" cy="4133349"/>
          </a:xfrm>
          <a:prstGeom prst="rect">
            <a:avLst/>
          </a:prstGeom>
        </p:spPr>
      </p:pic>
      <p:sp>
        <p:nvSpPr>
          <p:cNvPr id="12" name="TextBox 11">
            <a:extLst>
              <a:ext uri="{FF2B5EF4-FFF2-40B4-BE49-F238E27FC236}">
                <a16:creationId xmlns:a16="http://schemas.microsoft.com/office/drawing/2014/main" id="{235B34CC-CAE3-0CAD-B878-DA711589A1BA}"/>
              </a:ext>
            </a:extLst>
          </p:cNvPr>
          <p:cNvSpPr txBox="1"/>
          <p:nvPr/>
        </p:nvSpPr>
        <p:spPr>
          <a:xfrm>
            <a:off x="6795654" y="5691893"/>
            <a:ext cx="5112328" cy="584775"/>
          </a:xfrm>
          <a:prstGeom prst="rect">
            <a:avLst/>
          </a:prstGeom>
          <a:noFill/>
        </p:spPr>
        <p:txBody>
          <a:bodyPr wrap="square" rtlCol="0">
            <a:spAutoFit/>
          </a:bodyPr>
          <a:lstStyle/>
          <a:p>
            <a:r>
              <a:rPr lang="en-IN" sz="3200" dirty="0" err="1">
                <a:latin typeface="Times New Roman" panose="02020603050405020304" pitchFamily="18" charset="0"/>
                <a:cs typeface="Times New Roman" panose="02020603050405020304" pitchFamily="18" charset="0"/>
              </a:rPr>
              <a:t>camelCaseConvention</a:t>
            </a:r>
            <a:endParaRPr lang="en-IN" sz="32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8D159C5-4060-9CAA-7FFB-9E4827BA1739}"/>
              </a:ext>
            </a:extLst>
          </p:cNvPr>
          <p:cNvSpPr txBox="1"/>
          <p:nvPr/>
        </p:nvSpPr>
        <p:spPr>
          <a:xfrm>
            <a:off x="1506681" y="5819560"/>
            <a:ext cx="4281055" cy="523220"/>
          </a:xfrm>
          <a:prstGeom prst="rect">
            <a:avLst/>
          </a:prstGeom>
          <a:noFill/>
        </p:spPr>
        <p:txBody>
          <a:bodyPr wrap="square" rtlCol="0">
            <a:spAutoFit/>
          </a:bodyPr>
          <a:lstStyle/>
          <a:p>
            <a:r>
              <a:rPr lang="en-IN" sz="2800" dirty="0" err="1"/>
              <a:t>PascalCaseConvention</a:t>
            </a:r>
            <a:endParaRPr lang="en-IN" sz="2800" dirty="0"/>
          </a:p>
        </p:txBody>
      </p:sp>
    </p:spTree>
    <p:extLst>
      <p:ext uri="{BB962C8B-B14F-4D97-AF65-F5344CB8AC3E}">
        <p14:creationId xmlns:p14="http://schemas.microsoft.com/office/powerpoint/2010/main" val="3331393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F7A0-F94F-B081-76CE-B38195018065}"/>
              </a:ext>
            </a:extLst>
          </p:cNvPr>
          <p:cNvSpPr>
            <a:spLocks noGrp="1"/>
          </p:cNvSpPr>
          <p:nvPr>
            <p:ph type="title"/>
          </p:nvPr>
        </p:nvSpPr>
        <p:spPr>
          <a:xfrm>
            <a:off x="698066" y="120209"/>
            <a:ext cx="9404723" cy="1400530"/>
          </a:xfrm>
        </p:spPr>
        <p:txBody>
          <a:bodyPr/>
          <a:lstStyle/>
          <a:p>
            <a:r>
              <a:rPr lang="en-IN" b="1" u="sng" dirty="0"/>
              <a:t>Pascal---Class</a:t>
            </a:r>
          </a:p>
        </p:txBody>
      </p:sp>
      <p:sp>
        <p:nvSpPr>
          <p:cNvPr id="6" name="TextBox 5">
            <a:extLst>
              <a:ext uri="{FF2B5EF4-FFF2-40B4-BE49-F238E27FC236}">
                <a16:creationId xmlns:a16="http://schemas.microsoft.com/office/drawing/2014/main" id="{EE294E0D-85BF-2853-48C3-CE208DF8EEFE}"/>
              </a:ext>
            </a:extLst>
          </p:cNvPr>
          <p:cNvSpPr txBox="1"/>
          <p:nvPr/>
        </p:nvSpPr>
        <p:spPr>
          <a:xfrm>
            <a:off x="833871" y="1086563"/>
            <a:ext cx="9047884" cy="3477875"/>
          </a:xfrm>
          <a:prstGeom prst="rect">
            <a:avLst/>
          </a:prstGeom>
          <a:noFill/>
        </p:spPr>
        <p:txBody>
          <a:bodyPr wrap="square">
            <a:spAutoFit/>
          </a:bodyPr>
          <a:lstStyle/>
          <a:p>
            <a:r>
              <a:rPr lang="en-IN" sz="4400" dirty="0">
                <a:latin typeface="Times New Roman" panose="02020603050405020304" pitchFamily="18" charset="0"/>
                <a:cs typeface="Times New Roman" panose="02020603050405020304" pitchFamily="18" charset="0"/>
              </a:rPr>
              <a:t>For class we use Pascal Convention.</a:t>
            </a:r>
          </a:p>
          <a:p>
            <a:r>
              <a:rPr lang="en-IN" sz="4400" dirty="0">
                <a:latin typeface="Times New Roman" panose="02020603050405020304" pitchFamily="18" charset="0"/>
                <a:cs typeface="Times New Roman" panose="02020603050405020304" pitchFamily="18" charset="0"/>
              </a:rPr>
              <a:t>Example</a:t>
            </a:r>
          </a:p>
          <a:p>
            <a:r>
              <a:rPr lang="en-IN" sz="4400" dirty="0">
                <a:latin typeface="Times New Roman" panose="02020603050405020304" pitchFamily="18" charset="0"/>
                <a:cs typeface="Times New Roman" panose="02020603050405020304" pitchFamily="18" charset="0"/>
              </a:rPr>
              <a:t>HelloWorld----Both starting letters will be in capital.</a:t>
            </a:r>
          </a:p>
          <a:p>
            <a:r>
              <a:rPr lang="en-IN" sz="4400" dirty="0">
                <a:latin typeface="Times New Roman" panose="02020603050405020304" pitchFamily="18" charset="0"/>
                <a:cs typeface="Times New Roman" panose="02020603050405020304" pitchFamily="18" charset="0"/>
              </a:rPr>
              <a:t>Main---First letter in capital.</a:t>
            </a:r>
          </a:p>
        </p:txBody>
      </p:sp>
    </p:spTree>
    <p:extLst>
      <p:ext uri="{BB962C8B-B14F-4D97-AF65-F5344CB8AC3E}">
        <p14:creationId xmlns:p14="http://schemas.microsoft.com/office/powerpoint/2010/main" val="991310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90ABF-AA07-9FBD-2CF8-A98962F04104}"/>
              </a:ext>
            </a:extLst>
          </p:cNvPr>
          <p:cNvSpPr>
            <a:spLocks noGrp="1"/>
          </p:cNvSpPr>
          <p:nvPr>
            <p:ph type="title"/>
          </p:nvPr>
        </p:nvSpPr>
        <p:spPr/>
        <p:txBody>
          <a:bodyPr/>
          <a:lstStyle/>
          <a:p>
            <a:r>
              <a:rPr lang="en-IN" dirty="0" err="1"/>
              <a:t>camelCaseConvention</a:t>
            </a:r>
            <a:r>
              <a:rPr lang="en-IN" dirty="0"/>
              <a:t>--Function</a:t>
            </a:r>
          </a:p>
        </p:txBody>
      </p:sp>
      <p:sp>
        <p:nvSpPr>
          <p:cNvPr id="3" name="Content Placeholder 2">
            <a:extLst>
              <a:ext uri="{FF2B5EF4-FFF2-40B4-BE49-F238E27FC236}">
                <a16:creationId xmlns:a16="http://schemas.microsoft.com/office/drawing/2014/main" id="{593E3B83-CC69-E9F2-A495-C7F2AF593F4B}"/>
              </a:ext>
            </a:extLst>
          </p:cNvPr>
          <p:cNvSpPr>
            <a:spLocks noGrp="1"/>
          </p:cNvSpPr>
          <p:nvPr>
            <p:ph idx="1"/>
          </p:nvPr>
        </p:nvSpPr>
        <p:spPr/>
        <p:txBody>
          <a:bodyPr/>
          <a:lstStyle/>
          <a:p>
            <a:r>
              <a:rPr lang="en-IN" dirty="0"/>
              <a:t>In camel case convention we use first word’s first letter small and all other words first letter in capital to define a function</a:t>
            </a:r>
          </a:p>
          <a:p>
            <a:r>
              <a:rPr lang="en-IN" dirty="0"/>
              <a:t>Example </a:t>
            </a:r>
          </a:p>
          <a:p>
            <a:r>
              <a:rPr lang="en-IN" dirty="0" err="1"/>
              <a:t>helloWorld</a:t>
            </a:r>
            <a:r>
              <a:rPr lang="en-IN" dirty="0"/>
              <a:t>—</a:t>
            </a:r>
            <a:r>
              <a:rPr lang="en-IN" dirty="0" err="1"/>
              <a:t>Firstword</a:t>
            </a:r>
            <a:r>
              <a:rPr lang="en-IN" dirty="0"/>
              <a:t> first letter small.</a:t>
            </a:r>
          </a:p>
          <a:p>
            <a:r>
              <a:rPr lang="en-IN" dirty="0"/>
              <a:t>main</a:t>
            </a:r>
          </a:p>
        </p:txBody>
      </p:sp>
    </p:spTree>
    <p:extLst>
      <p:ext uri="{BB962C8B-B14F-4D97-AF65-F5344CB8AC3E}">
        <p14:creationId xmlns:p14="http://schemas.microsoft.com/office/powerpoint/2010/main" val="4251188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75BB0-AD93-C987-8074-C5F59D10DE6D}"/>
              </a:ext>
            </a:extLst>
          </p:cNvPr>
          <p:cNvSpPr>
            <a:spLocks noGrp="1"/>
          </p:cNvSpPr>
          <p:nvPr>
            <p:ph type="title"/>
          </p:nvPr>
        </p:nvSpPr>
        <p:spPr/>
        <p:txBody>
          <a:bodyPr/>
          <a:lstStyle/>
          <a:p>
            <a:r>
              <a:rPr lang="en-IN" dirty="0"/>
              <a:t>Encapsulation</a:t>
            </a:r>
          </a:p>
        </p:txBody>
      </p:sp>
      <p:sp>
        <p:nvSpPr>
          <p:cNvPr id="3" name="Content Placeholder 2">
            <a:extLst>
              <a:ext uri="{FF2B5EF4-FFF2-40B4-BE49-F238E27FC236}">
                <a16:creationId xmlns:a16="http://schemas.microsoft.com/office/drawing/2014/main" id="{CEF8D6A0-3D9B-CC85-CFFE-23F2B05C443F}"/>
              </a:ext>
            </a:extLst>
          </p:cNvPr>
          <p:cNvSpPr>
            <a:spLocks noGrp="1"/>
          </p:cNvSpPr>
          <p:nvPr>
            <p:ph idx="1"/>
          </p:nvPr>
        </p:nvSpPr>
        <p:spPr/>
        <p:txBody>
          <a:bodyPr>
            <a:normAutofit lnSpcReduction="10000"/>
          </a:bodyPr>
          <a:lstStyle/>
          <a:p>
            <a:r>
              <a:rPr lang="en-IN" sz="3600" dirty="0">
                <a:latin typeface="Times New Roman" panose="02020603050405020304" pitchFamily="18" charset="0"/>
                <a:cs typeface="Times New Roman" panose="02020603050405020304" pitchFamily="18" charset="0"/>
              </a:rPr>
              <a:t>Encapsulation is a mechanism through which we can wrap the data members and members methods of class in a single unit called encapsulation.</a:t>
            </a:r>
          </a:p>
          <a:p>
            <a:r>
              <a:rPr lang="en-IN" sz="3600" b="1" u="sng" dirty="0">
                <a:latin typeface="Times New Roman" panose="02020603050405020304" pitchFamily="18" charset="0"/>
                <a:cs typeface="Times New Roman" panose="02020603050405020304" pitchFamily="18" charset="0"/>
              </a:rPr>
              <a:t>Note</a:t>
            </a:r>
          </a:p>
          <a:p>
            <a:r>
              <a:rPr lang="en-IN" sz="3600" dirty="0">
                <a:latin typeface="Times New Roman" panose="02020603050405020304" pitchFamily="18" charset="0"/>
                <a:cs typeface="Times New Roman" panose="02020603050405020304" pitchFamily="18" charset="0"/>
              </a:rPr>
              <a:t>Declare the class variables as private.</a:t>
            </a:r>
          </a:p>
          <a:p>
            <a:r>
              <a:rPr lang="en-IN" sz="3600" dirty="0">
                <a:latin typeface="Times New Roman" panose="02020603050405020304" pitchFamily="18" charset="0"/>
                <a:cs typeface="Times New Roman" panose="02020603050405020304" pitchFamily="18" charset="0"/>
              </a:rPr>
              <a:t>Declare the class methods as public.</a:t>
            </a:r>
          </a:p>
        </p:txBody>
      </p:sp>
    </p:spTree>
    <p:extLst>
      <p:ext uri="{BB962C8B-B14F-4D97-AF65-F5344CB8AC3E}">
        <p14:creationId xmlns:p14="http://schemas.microsoft.com/office/powerpoint/2010/main" val="1535277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C18A4C-292F-817A-0E20-B1BFD2EEB5AE}"/>
              </a:ext>
            </a:extLst>
          </p:cNvPr>
          <p:cNvPicPr>
            <a:picLocks noGrp="1" noChangeAspect="1"/>
          </p:cNvPicPr>
          <p:nvPr>
            <p:ph idx="1"/>
          </p:nvPr>
        </p:nvPicPr>
        <p:blipFill>
          <a:blip r:embed="rId2"/>
          <a:stretch>
            <a:fillRect/>
          </a:stretch>
        </p:blipFill>
        <p:spPr>
          <a:xfrm>
            <a:off x="275303" y="88490"/>
            <a:ext cx="11031794" cy="6695768"/>
          </a:xfrm>
        </p:spPr>
      </p:pic>
    </p:spTree>
    <p:extLst>
      <p:ext uri="{BB962C8B-B14F-4D97-AF65-F5344CB8AC3E}">
        <p14:creationId xmlns:p14="http://schemas.microsoft.com/office/powerpoint/2010/main" val="2976595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98430-C0AB-BA53-0C49-EE8859D24E96}"/>
              </a:ext>
            </a:extLst>
          </p:cNvPr>
          <p:cNvSpPr>
            <a:spLocks noGrp="1"/>
          </p:cNvSpPr>
          <p:nvPr>
            <p:ph type="title"/>
          </p:nvPr>
        </p:nvSpPr>
        <p:spPr/>
        <p:txBody>
          <a:bodyPr/>
          <a:lstStyle/>
          <a:p>
            <a:r>
              <a:rPr lang="en-IN" dirty="0"/>
              <a:t>Output</a:t>
            </a:r>
          </a:p>
        </p:txBody>
      </p:sp>
      <p:pic>
        <p:nvPicPr>
          <p:cNvPr id="5" name="Content Placeholder 4">
            <a:extLst>
              <a:ext uri="{FF2B5EF4-FFF2-40B4-BE49-F238E27FC236}">
                <a16:creationId xmlns:a16="http://schemas.microsoft.com/office/drawing/2014/main" id="{B614157B-864F-DF5F-7332-74B420BC3649}"/>
              </a:ext>
            </a:extLst>
          </p:cNvPr>
          <p:cNvPicPr>
            <a:picLocks noGrp="1" noChangeAspect="1"/>
          </p:cNvPicPr>
          <p:nvPr>
            <p:ph idx="1"/>
          </p:nvPr>
        </p:nvPicPr>
        <p:blipFill>
          <a:blip r:embed="rId2"/>
          <a:stretch>
            <a:fillRect/>
          </a:stretch>
        </p:blipFill>
        <p:spPr>
          <a:xfrm>
            <a:off x="1061884" y="1406014"/>
            <a:ext cx="8988949" cy="4768644"/>
          </a:xfrm>
        </p:spPr>
      </p:pic>
    </p:spTree>
    <p:extLst>
      <p:ext uri="{BB962C8B-B14F-4D97-AF65-F5344CB8AC3E}">
        <p14:creationId xmlns:p14="http://schemas.microsoft.com/office/powerpoint/2010/main" val="515067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880B9-9A9B-A1C8-DC09-9D7BA59FD3B3}"/>
              </a:ext>
            </a:extLst>
          </p:cNvPr>
          <p:cNvSpPr>
            <a:spLocks noGrp="1"/>
          </p:cNvSpPr>
          <p:nvPr>
            <p:ph type="title"/>
          </p:nvPr>
        </p:nvSpPr>
        <p:spPr/>
        <p:txBody>
          <a:bodyPr/>
          <a:lstStyle/>
          <a:p>
            <a:r>
              <a:rPr lang="en-IN" dirty="0"/>
              <a:t>Inheritance</a:t>
            </a:r>
          </a:p>
        </p:txBody>
      </p:sp>
      <p:sp>
        <p:nvSpPr>
          <p:cNvPr id="3" name="Content Placeholder 2">
            <a:extLst>
              <a:ext uri="{FF2B5EF4-FFF2-40B4-BE49-F238E27FC236}">
                <a16:creationId xmlns:a16="http://schemas.microsoft.com/office/drawing/2014/main" id="{3C148DA5-6C6E-5AAF-EFBE-56B1156088F8}"/>
              </a:ext>
            </a:extLst>
          </p:cNvPr>
          <p:cNvSpPr>
            <a:spLocks noGrp="1"/>
          </p:cNvSpPr>
          <p:nvPr>
            <p:ph idx="1"/>
          </p:nvPr>
        </p:nvSpPr>
        <p:spPr/>
        <p:txBody>
          <a:bodyPr/>
          <a:lstStyle/>
          <a:p>
            <a:r>
              <a:rPr lang="en-US" dirty="0"/>
              <a:t>Inheritance is a fundamental concept in object-oriented programming (OOP) that allows a new class to inherit properties and behaviors (fields and methods) from an existing class. This promotes code reuse and establishes a natural hierarchical relationship between classes.</a:t>
            </a:r>
            <a:endParaRPr lang="en-IN" dirty="0"/>
          </a:p>
        </p:txBody>
      </p:sp>
    </p:spTree>
    <p:extLst>
      <p:ext uri="{BB962C8B-B14F-4D97-AF65-F5344CB8AC3E}">
        <p14:creationId xmlns:p14="http://schemas.microsoft.com/office/powerpoint/2010/main" val="2879635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1039-8677-3EEC-7C8E-1B56C84BA7BE}"/>
              </a:ext>
            </a:extLst>
          </p:cNvPr>
          <p:cNvSpPr>
            <a:spLocks noGrp="1"/>
          </p:cNvSpPr>
          <p:nvPr>
            <p:ph type="title"/>
          </p:nvPr>
        </p:nvSpPr>
        <p:spPr>
          <a:xfrm>
            <a:off x="734602" y="167582"/>
            <a:ext cx="9404723" cy="1400530"/>
          </a:xfrm>
        </p:spPr>
        <p:txBody>
          <a:bodyPr/>
          <a:lstStyle/>
          <a:p>
            <a:r>
              <a:rPr kumimoji="0" lang="en-US" altLang="en-US" sz="4400" b="1" i="0" u="none" strike="noStrike" cap="none" normalizeH="0" baseline="0" dirty="0">
                <a:ln>
                  <a:noFill/>
                </a:ln>
                <a:solidFill>
                  <a:schemeClr val="tx1"/>
                </a:solidFill>
                <a:effectLst/>
                <a:latin typeface="Arial" panose="020B0604020202020204" pitchFamily="34" charset="0"/>
              </a:rPr>
              <a:t>Key Concepts of Inheritance</a:t>
            </a:r>
            <a:br>
              <a:rPr kumimoji="0" lang="en-US" altLang="en-US" sz="4400" b="1" i="0" u="none" strike="noStrike" cap="none" normalizeH="0" baseline="0" dirty="0">
                <a:ln>
                  <a:noFill/>
                </a:ln>
                <a:solidFill>
                  <a:schemeClr val="tx1"/>
                </a:solidFill>
                <a:effectLst/>
                <a:latin typeface="Arial" panose="020B0604020202020204" pitchFamily="34" charset="0"/>
              </a:rPr>
            </a:br>
            <a:endParaRPr lang="en-IN" dirty="0"/>
          </a:p>
        </p:txBody>
      </p:sp>
      <p:sp>
        <p:nvSpPr>
          <p:cNvPr id="4" name="Rectangle 1">
            <a:extLst>
              <a:ext uri="{FF2B5EF4-FFF2-40B4-BE49-F238E27FC236}">
                <a16:creationId xmlns:a16="http://schemas.microsoft.com/office/drawing/2014/main" id="{86E73C6B-9300-E5C5-61B2-6C046F49F694}"/>
              </a:ext>
            </a:extLst>
          </p:cNvPr>
          <p:cNvSpPr>
            <a:spLocks noGrp="1" noChangeArrowheads="1"/>
          </p:cNvSpPr>
          <p:nvPr>
            <p:ph idx="1"/>
          </p:nvPr>
        </p:nvSpPr>
        <p:spPr bwMode="auto">
          <a:xfrm>
            <a:off x="646111" y="992736"/>
            <a:ext cx="10899778"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Superclass (Parent Class)</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class whose properties and methods are inherited by another class.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Also known as the base class or parent class.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Subclass (Child Class)</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class that inherits properties and methods from another class.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Also known as the derived class or child class.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extends Keyword</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declare a subclass. The extends keyword is followed by the name of the superclass.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0397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D3194-6D0D-4290-8B65-2960C6F13B63}"/>
              </a:ext>
            </a:extLst>
          </p:cNvPr>
          <p:cNvSpPr>
            <a:spLocks noGrp="1"/>
          </p:cNvSpPr>
          <p:nvPr>
            <p:ph type="title"/>
          </p:nvPr>
        </p:nvSpPr>
        <p:spPr/>
        <p:txBody>
          <a:bodyPr/>
          <a:lstStyle/>
          <a:p>
            <a:r>
              <a:rPr lang="en-IN" b="1" u="sng" dirty="0"/>
              <a:t>Types of Inheritance</a:t>
            </a:r>
          </a:p>
        </p:txBody>
      </p:sp>
      <p:sp>
        <p:nvSpPr>
          <p:cNvPr id="3" name="Content Placeholder 2">
            <a:extLst>
              <a:ext uri="{FF2B5EF4-FFF2-40B4-BE49-F238E27FC236}">
                <a16:creationId xmlns:a16="http://schemas.microsoft.com/office/drawing/2014/main" id="{9FAE4F87-5C72-F6C9-CD91-B1412B47B218}"/>
              </a:ext>
            </a:extLst>
          </p:cNvPr>
          <p:cNvSpPr>
            <a:spLocks noGrp="1"/>
          </p:cNvSpPr>
          <p:nvPr>
            <p:ph idx="1"/>
          </p:nvPr>
        </p:nvSpPr>
        <p:spPr>
          <a:xfrm>
            <a:off x="875201" y="1639963"/>
            <a:ext cx="8946541" cy="4195481"/>
          </a:xfrm>
        </p:spPr>
        <p:txBody>
          <a:bodyPr>
            <a:normAutofit/>
          </a:bodyPr>
          <a:lstStyle/>
          <a:p>
            <a:r>
              <a:rPr lang="en-IN" sz="4000" dirty="0">
                <a:latin typeface="Times New Roman" panose="02020603050405020304" pitchFamily="18" charset="0"/>
                <a:cs typeface="Times New Roman" panose="02020603050405020304" pitchFamily="18" charset="0"/>
              </a:rPr>
              <a:t>Single / Simple Inheritance</a:t>
            </a:r>
          </a:p>
          <a:p>
            <a:r>
              <a:rPr lang="en-IN" sz="4000" dirty="0">
                <a:latin typeface="Times New Roman" panose="02020603050405020304" pitchFamily="18" charset="0"/>
                <a:cs typeface="Times New Roman" panose="02020603050405020304" pitchFamily="18" charset="0"/>
              </a:rPr>
              <a:t>Multi- Level Inheritance</a:t>
            </a:r>
          </a:p>
          <a:p>
            <a:r>
              <a:rPr lang="en-IN" sz="4000" dirty="0">
                <a:latin typeface="Times New Roman" panose="02020603050405020304" pitchFamily="18" charset="0"/>
                <a:cs typeface="Times New Roman" panose="02020603050405020304" pitchFamily="18" charset="0"/>
              </a:rPr>
              <a:t>Hierarchical Inheritance</a:t>
            </a:r>
          </a:p>
          <a:p>
            <a:pPr marL="0" indent="0">
              <a:buNone/>
            </a:pP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9430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CA10C-877A-B4BD-54D9-7CE7CFC0F2CC}"/>
              </a:ext>
            </a:extLst>
          </p:cNvPr>
          <p:cNvSpPr>
            <a:spLocks noGrp="1"/>
          </p:cNvSpPr>
          <p:nvPr>
            <p:ph type="title"/>
          </p:nvPr>
        </p:nvSpPr>
        <p:spPr/>
        <p:txBody>
          <a:bodyPr/>
          <a:lstStyle/>
          <a:p>
            <a:r>
              <a:rPr lang="en-IN" dirty="0"/>
              <a:t>Syntax</a:t>
            </a:r>
          </a:p>
        </p:txBody>
      </p:sp>
      <p:sp>
        <p:nvSpPr>
          <p:cNvPr id="3" name="Content Placeholder 2">
            <a:extLst>
              <a:ext uri="{FF2B5EF4-FFF2-40B4-BE49-F238E27FC236}">
                <a16:creationId xmlns:a16="http://schemas.microsoft.com/office/drawing/2014/main" id="{98F28D31-D8FA-2B7F-2F5C-4DC7F3DCAFA5}"/>
              </a:ext>
            </a:extLst>
          </p:cNvPr>
          <p:cNvSpPr>
            <a:spLocks noGrp="1"/>
          </p:cNvSpPr>
          <p:nvPr>
            <p:ph idx="1"/>
          </p:nvPr>
        </p:nvSpPr>
        <p:spPr/>
        <p:txBody>
          <a:bodyPr>
            <a:normAutofit lnSpcReduction="10000"/>
          </a:bodyPr>
          <a:lstStyle/>
          <a:p>
            <a:r>
              <a:rPr lang="en-IN" dirty="0"/>
              <a:t>Class A</a:t>
            </a:r>
          </a:p>
          <a:p>
            <a:r>
              <a:rPr lang="en-IN" dirty="0"/>
              <a:t>{</a:t>
            </a:r>
          </a:p>
          <a:p>
            <a:pPr marL="0" indent="0">
              <a:buNone/>
            </a:pPr>
            <a:endParaRPr lang="en-IN" dirty="0"/>
          </a:p>
          <a:p>
            <a:pPr marL="0" indent="0">
              <a:buNone/>
            </a:pPr>
            <a:r>
              <a:rPr lang="en-IN" dirty="0"/>
              <a:t>    </a:t>
            </a:r>
          </a:p>
          <a:p>
            <a:r>
              <a:rPr lang="en-IN" dirty="0"/>
              <a:t>}</a:t>
            </a:r>
          </a:p>
          <a:p>
            <a:r>
              <a:rPr lang="en-IN" dirty="0"/>
              <a:t>Class B extends A</a:t>
            </a:r>
          </a:p>
          <a:p>
            <a:r>
              <a:rPr lang="en-IN" dirty="0"/>
              <a:t>{</a:t>
            </a:r>
          </a:p>
          <a:p>
            <a:pPr marL="0" indent="0">
              <a:buNone/>
            </a:pPr>
            <a:endParaRPr lang="en-IN" dirty="0"/>
          </a:p>
          <a:p>
            <a:pPr marL="0" indent="0">
              <a:buNone/>
            </a:pPr>
            <a:endParaRPr lang="en-IN" dirty="0"/>
          </a:p>
          <a:p>
            <a:r>
              <a:rPr lang="en-IN" dirty="0"/>
              <a:t>}</a:t>
            </a:r>
          </a:p>
        </p:txBody>
      </p:sp>
    </p:spTree>
    <p:extLst>
      <p:ext uri="{BB962C8B-B14F-4D97-AF65-F5344CB8AC3E}">
        <p14:creationId xmlns:p14="http://schemas.microsoft.com/office/powerpoint/2010/main" val="1577593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915A8-8148-189B-F824-0678E0E5A104}"/>
              </a:ext>
            </a:extLst>
          </p:cNvPr>
          <p:cNvSpPr>
            <a:spLocks noGrp="1"/>
          </p:cNvSpPr>
          <p:nvPr>
            <p:ph type="title"/>
          </p:nvPr>
        </p:nvSpPr>
        <p:spPr/>
        <p:txBody>
          <a:bodyPr/>
          <a:lstStyle/>
          <a:p>
            <a:r>
              <a:rPr lang="en-IN" dirty="0"/>
              <a:t>Single / Simple Inheritance</a:t>
            </a:r>
          </a:p>
        </p:txBody>
      </p:sp>
      <p:sp>
        <p:nvSpPr>
          <p:cNvPr id="4" name="Rectangle 3">
            <a:extLst>
              <a:ext uri="{FF2B5EF4-FFF2-40B4-BE49-F238E27FC236}">
                <a16:creationId xmlns:a16="http://schemas.microsoft.com/office/drawing/2014/main" id="{B00B74C9-15D8-EE60-1BD4-612CB10B44AF}"/>
              </a:ext>
            </a:extLst>
          </p:cNvPr>
          <p:cNvSpPr/>
          <p:nvPr/>
        </p:nvSpPr>
        <p:spPr>
          <a:xfrm>
            <a:off x="4031226" y="2281084"/>
            <a:ext cx="2163097" cy="1147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Super Class</a:t>
            </a:r>
          </a:p>
        </p:txBody>
      </p:sp>
      <p:cxnSp>
        <p:nvCxnSpPr>
          <p:cNvPr id="6" name="Straight Arrow Connector 5">
            <a:extLst>
              <a:ext uri="{FF2B5EF4-FFF2-40B4-BE49-F238E27FC236}">
                <a16:creationId xmlns:a16="http://schemas.microsoft.com/office/drawing/2014/main" id="{320431D9-3426-7C35-1439-F02BA7E65C68}"/>
              </a:ext>
            </a:extLst>
          </p:cNvPr>
          <p:cNvCxnSpPr>
            <a:cxnSpLocks/>
            <a:stCxn id="4" idx="2"/>
          </p:cNvCxnSpPr>
          <p:nvPr/>
        </p:nvCxnSpPr>
        <p:spPr>
          <a:xfrm>
            <a:off x="5112775" y="3429000"/>
            <a:ext cx="0" cy="11479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Rectangle 8">
            <a:extLst>
              <a:ext uri="{FF2B5EF4-FFF2-40B4-BE49-F238E27FC236}">
                <a16:creationId xmlns:a16="http://schemas.microsoft.com/office/drawing/2014/main" id="{5C5E63CA-CFE9-183D-A8EF-51CA4BD48237}"/>
              </a:ext>
            </a:extLst>
          </p:cNvPr>
          <p:cNvSpPr/>
          <p:nvPr/>
        </p:nvSpPr>
        <p:spPr>
          <a:xfrm>
            <a:off x="4139381" y="4576916"/>
            <a:ext cx="2054936" cy="13912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Sub Class</a:t>
            </a:r>
          </a:p>
        </p:txBody>
      </p:sp>
    </p:spTree>
    <p:extLst>
      <p:ext uri="{BB962C8B-B14F-4D97-AF65-F5344CB8AC3E}">
        <p14:creationId xmlns:p14="http://schemas.microsoft.com/office/powerpoint/2010/main" val="2680964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CDB3-ADC7-008D-F628-E1E885C7A41A}"/>
              </a:ext>
            </a:extLst>
          </p:cNvPr>
          <p:cNvSpPr>
            <a:spLocks noGrp="1"/>
          </p:cNvSpPr>
          <p:nvPr>
            <p:ph type="title"/>
          </p:nvPr>
        </p:nvSpPr>
        <p:spPr>
          <a:xfrm>
            <a:off x="645130" y="138086"/>
            <a:ext cx="9404723" cy="1400530"/>
          </a:xfrm>
        </p:spPr>
        <p:txBody>
          <a:bodyPr/>
          <a:lstStyle/>
          <a:p>
            <a:r>
              <a:rPr lang="en-IN" sz="4000" dirty="0">
                <a:latin typeface="Times New Roman" panose="02020603050405020304" pitchFamily="18" charset="0"/>
                <a:cs typeface="Times New Roman" panose="02020603050405020304" pitchFamily="18" charset="0"/>
              </a:rPr>
              <a:t>Multi-Level Inheritance</a:t>
            </a:r>
          </a:p>
        </p:txBody>
      </p:sp>
      <p:sp>
        <p:nvSpPr>
          <p:cNvPr id="4" name="Rectangle 3">
            <a:extLst>
              <a:ext uri="{FF2B5EF4-FFF2-40B4-BE49-F238E27FC236}">
                <a16:creationId xmlns:a16="http://schemas.microsoft.com/office/drawing/2014/main" id="{09AEAD32-FE8B-8988-B799-8EAFF14EAD43}"/>
              </a:ext>
            </a:extLst>
          </p:cNvPr>
          <p:cNvSpPr/>
          <p:nvPr/>
        </p:nvSpPr>
        <p:spPr>
          <a:xfrm>
            <a:off x="4080387" y="848768"/>
            <a:ext cx="2192593" cy="1101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Super Class</a:t>
            </a:r>
          </a:p>
        </p:txBody>
      </p:sp>
      <p:cxnSp>
        <p:nvCxnSpPr>
          <p:cNvPr id="6" name="Straight Connector 5">
            <a:extLst>
              <a:ext uri="{FF2B5EF4-FFF2-40B4-BE49-F238E27FC236}">
                <a16:creationId xmlns:a16="http://schemas.microsoft.com/office/drawing/2014/main" id="{D9F6FC19-CF37-0102-05A8-84CCB088ADA7}"/>
              </a:ext>
            </a:extLst>
          </p:cNvPr>
          <p:cNvCxnSpPr>
            <a:stCxn id="4" idx="2"/>
          </p:cNvCxnSpPr>
          <p:nvPr/>
        </p:nvCxnSpPr>
        <p:spPr>
          <a:xfrm>
            <a:off x="5176684" y="1949981"/>
            <a:ext cx="14748" cy="655567"/>
          </a:xfrm>
          <a:prstGeom prst="line">
            <a:avLst/>
          </a:prstGeom>
        </p:spPr>
        <p:style>
          <a:lnRef idx="3">
            <a:schemeClr val="dk1"/>
          </a:lnRef>
          <a:fillRef idx="0">
            <a:schemeClr val="dk1"/>
          </a:fillRef>
          <a:effectRef idx="2">
            <a:schemeClr val="dk1"/>
          </a:effectRef>
          <a:fontRef idx="minor">
            <a:schemeClr val="tx1"/>
          </a:fontRef>
        </p:style>
      </p:cxnSp>
      <p:sp>
        <p:nvSpPr>
          <p:cNvPr id="7" name="Rectangle 6">
            <a:extLst>
              <a:ext uri="{FF2B5EF4-FFF2-40B4-BE49-F238E27FC236}">
                <a16:creationId xmlns:a16="http://schemas.microsoft.com/office/drawing/2014/main" id="{1CE468DF-135E-DBB2-33D3-3D891C72A23C}"/>
              </a:ext>
            </a:extLst>
          </p:cNvPr>
          <p:cNvSpPr/>
          <p:nvPr/>
        </p:nvSpPr>
        <p:spPr>
          <a:xfrm>
            <a:off x="4080387" y="2605548"/>
            <a:ext cx="2192593" cy="1101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Sub Class</a:t>
            </a:r>
          </a:p>
        </p:txBody>
      </p:sp>
      <p:cxnSp>
        <p:nvCxnSpPr>
          <p:cNvPr id="9" name="Straight Connector 8">
            <a:extLst>
              <a:ext uri="{FF2B5EF4-FFF2-40B4-BE49-F238E27FC236}">
                <a16:creationId xmlns:a16="http://schemas.microsoft.com/office/drawing/2014/main" id="{3A88DBE2-F944-30E3-4015-A9FBE4CDC791}"/>
              </a:ext>
            </a:extLst>
          </p:cNvPr>
          <p:cNvCxnSpPr>
            <a:stCxn id="7" idx="2"/>
          </p:cNvCxnSpPr>
          <p:nvPr/>
        </p:nvCxnSpPr>
        <p:spPr>
          <a:xfrm>
            <a:off x="5176684" y="3706761"/>
            <a:ext cx="0" cy="688258"/>
          </a:xfrm>
          <a:prstGeom prst="line">
            <a:avLst/>
          </a:prstGeom>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BB4AA36B-0779-70ED-9580-FFBA83F5EBE0}"/>
              </a:ext>
            </a:extLst>
          </p:cNvPr>
          <p:cNvSpPr/>
          <p:nvPr/>
        </p:nvSpPr>
        <p:spPr>
          <a:xfrm>
            <a:off x="4080387" y="4503174"/>
            <a:ext cx="2192589" cy="1101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Sub Class</a:t>
            </a:r>
          </a:p>
        </p:txBody>
      </p:sp>
    </p:spTree>
    <p:extLst>
      <p:ext uri="{BB962C8B-B14F-4D97-AF65-F5344CB8AC3E}">
        <p14:creationId xmlns:p14="http://schemas.microsoft.com/office/powerpoint/2010/main" val="2823196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9FF8-746C-A3A4-08E0-0390865E83C6}"/>
              </a:ext>
            </a:extLst>
          </p:cNvPr>
          <p:cNvSpPr>
            <a:spLocks noGrp="1"/>
          </p:cNvSpPr>
          <p:nvPr>
            <p:ph type="title"/>
          </p:nvPr>
        </p:nvSpPr>
        <p:spPr/>
        <p:txBody>
          <a:bodyPr/>
          <a:lstStyle/>
          <a:p>
            <a:r>
              <a:rPr lang="en-IN" dirty="0"/>
              <a:t>Hierarchical Inheritance</a:t>
            </a:r>
          </a:p>
        </p:txBody>
      </p:sp>
      <p:sp>
        <p:nvSpPr>
          <p:cNvPr id="4" name="Rectangle 3">
            <a:extLst>
              <a:ext uri="{FF2B5EF4-FFF2-40B4-BE49-F238E27FC236}">
                <a16:creationId xmlns:a16="http://schemas.microsoft.com/office/drawing/2014/main" id="{BFB692C5-C1FD-D9B2-3322-B18A46783C4A}"/>
              </a:ext>
            </a:extLst>
          </p:cNvPr>
          <p:cNvSpPr/>
          <p:nvPr/>
        </p:nvSpPr>
        <p:spPr>
          <a:xfrm>
            <a:off x="4866968" y="1189703"/>
            <a:ext cx="2507226" cy="943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Super Class</a:t>
            </a:r>
          </a:p>
        </p:txBody>
      </p:sp>
      <p:cxnSp>
        <p:nvCxnSpPr>
          <p:cNvPr id="6" name="Straight Connector 5">
            <a:extLst>
              <a:ext uri="{FF2B5EF4-FFF2-40B4-BE49-F238E27FC236}">
                <a16:creationId xmlns:a16="http://schemas.microsoft.com/office/drawing/2014/main" id="{996065AD-1090-1B0F-30AA-7CFEC71369C1}"/>
              </a:ext>
            </a:extLst>
          </p:cNvPr>
          <p:cNvCxnSpPr/>
          <p:nvPr/>
        </p:nvCxnSpPr>
        <p:spPr>
          <a:xfrm flipH="1">
            <a:off x="3608439" y="2133600"/>
            <a:ext cx="1494503" cy="1002890"/>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48BA4E73-667F-A3CD-030A-2A86308FA810}"/>
              </a:ext>
            </a:extLst>
          </p:cNvPr>
          <p:cNvCxnSpPr/>
          <p:nvPr/>
        </p:nvCxnSpPr>
        <p:spPr>
          <a:xfrm>
            <a:off x="5909187" y="2133600"/>
            <a:ext cx="0" cy="1179871"/>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F967604F-8318-5B8F-B8B0-B7C30BC3B957}"/>
              </a:ext>
            </a:extLst>
          </p:cNvPr>
          <p:cNvCxnSpPr/>
          <p:nvPr/>
        </p:nvCxnSpPr>
        <p:spPr>
          <a:xfrm>
            <a:off x="7010400" y="2133600"/>
            <a:ext cx="1622323" cy="1002890"/>
          </a:xfrm>
          <a:prstGeom prst="line">
            <a:avLst/>
          </a:prstGeom>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4EACF9EC-06C5-F50B-17E1-8C4500940509}"/>
              </a:ext>
            </a:extLst>
          </p:cNvPr>
          <p:cNvSpPr/>
          <p:nvPr/>
        </p:nvSpPr>
        <p:spPr>
          <a:xfrm>
            <a:off x="2349910" y="3205316"/>
            <a:ext cx="2300739" cy="13076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Sub class</a:t>
            </a:r>
          </a:p>
        </p:txBody>
      </p:sp>
      <p:sp>
        <p:nvSpPr>
          <p:cNvPr id="12" name="Rectangle 11">
            <a:extLst>
              <a:ext uri="{FF2B5EF4-FFF2-40B4-BE49-F238E27FC236}">
                <a16:creationId xmlns:a16="http://schemas.microsoft.com/office/drawing/2014/main" id="{F04028CC-D9DB-3E9A-1008-4117FD9E46D7}"/>
              </a:ext>
            </a:extLst>
          </p:cNvPr>
          <p:cNvSpPr/>
          <p:nvPr/>
        </p:nvSpPr>
        <p:spPr>
          <a:xfrm>
            <a:off x="5102942" y="3313471"/>
            <a:ext cx="1750141" cy="16419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Sub class</a:t>
            </a:r>
          </a:p>
        </p:txBody>
      </p:sp>
      <p:sp>
        <p:nvSpPr>
          <p:cNvPr id="13" name="Rectangle 12">
            <a:extLst>
              <a:ext uri="{FF2B5EF4-FFF2-40B4-BE49-F238E27FC236}">
                <a16:creationId xmlns:a16="http://schemas.microsoft.com/office/drawing/2014/main" id="{98EE4453-D5C1-88D0-4953-BD94E5589B7F}"/>
              </a:ext>
            </a:extLst>
          </p:cNvPr>
          <p:cNvSpPr/>
          <p:nvPr/>
        </p:nvSpPr>
        <p:spPr>
          <a:xfrm>
            <a:off x="7777316" y="3205316"/>
            <a:ext cx="2654707" cy="1750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Sub class</a:t>
            </a:r>
          </a:p>
        </p:txBody>
      </p:sp>
    </p:spTree>
    <p:extLst>
      <p:ext uri="{BB962C8B-B14F-4D97-AF65-F5344CB8AC3E}">
        <p14:creationId xmlns:p14="http://schemas.microsoft.com/office/powerpoint/2010/main" val="4038877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437A0-9FA3-C498-8ABA-ECFF41704EDB}"/>
              </a:ext>
            </a:extLst>
          </p:cNvPr>
          <p:cNvSpPr>
            <a:spLocks noGrp="1"/>
          </p:cNvSpPr>
          <p:nvPr>
            <p:ph type="title"/>
          </p:nvPr>
        </p:nvSpPr>
        <p:spPr/>
        <p:txBody>
          <a:bodyPr/>
          <a:lstStyle/>
          <a:p>
            <a:r>
              <a:rPr lang="en-IN" dirty="0"/>
              <a:t>Multiple Inheritance</a:t>
            </a:r>
          </a:p>
        </p:txBody>
      </p:sp>
      <p:sp>
        <p:nvSpPr>
          <p:cNvPr id="4" name="Rectangle 3">
            <a:extLst>
              <a:ext uri="{FF2B5EF4-FFF2-40B4-BE49-F238E27FC236}">
                <a16:creationId xmlns:a16="http://schemas.microsoft.com/office/drawing/2014/main" id="{20ED9404-0C1A-8018-F2E5-C418C47CAFAE}"/>
              </a:ext>
            </a:extLst>
          </p:cNvPr>
          <p:cNvSpPr/>
          <p:nvPr/>
        </p:nvSpPr>
        <p:spPr>
          <a:xfrm>
            <a:off x="1682325" y="1714499"/>
            <a:ext cx="2130136" cy="1278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Parent Class</a:t>
            </a:r>
          </a:p>
        </p:txBody>
      </p:sp>
      <p:sp>
        <p:nvSpPr>
          <p:cNvPr id="5" name="Rectangle 4">
            <a:extLst>
              <a:ext uri="{FF2B5EF4-FFF2-40B4-BE49-F238E27FC236}">
                <a16:creationId xmlns:a16="http://schemas.microsoft.com/office/drawing/2014/main" id="{9D61D8C9-A1A5-5CB9-6561-39A4742BC109}"/>
              </a:ext>
            </a:extLst>
          </p:cNvPr>
          <p:cNvSpPr/>
          <p:nvPr/>
        </p:nvSpPr>
        <p:spPr>
          <a:xfrm>
            <a:off x="6958720" y="1564500"/>
            <a:ext cx="2130136" cy="1350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Parent Class</a:t>
            </a:r>
          </a:p>
        </p:txBody>
      </p:sp>
      <p:sp>
        <p:nvSpPr>
          <p:cNvPr id="6" name="Oval 5">
            <a:extLst>
              <a:ext uri="{FF2B5EF4-FFF2-40B4-BE49-F238E27FC236}">
                <a16:creationId xmlns:a16="http://schemas.microsoft.com/office/drawing/2014/main" id="{F6EA6314-B800-1B21-71BF-CC821CC37B0E}"/>
              </a:ext>
            </a:extLst>
          </p:cNvPr>
          <p:cNvSpPr/>
          <p:nvPr/>
        </p:nvSpPr>
        <p:spPr>
          <a:xfrm>
            <a:off x="4592782" y="4353791"/>
            <a:ext cx="1963882" cy="166254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Child class</a:t>
            </a:r>
          </a:p>
        </p:txBody>
      </p:sp>
      <p:cxnSp>
        <p:nvCxnSpPr>
          <p:cNvPr id="8" name="Straight Connector 7">
            <a:extLst>
              <a:ext uri="{FF2B5EF4-FFF2-40B4-BE49-F238E27FC236}">
                <a16:creationId xmlns:a16="http://schemas.microsoft.com/office/drawing/2014/main" id="{3E9572ED-C36F-09F8-0814-189CB03193F5}"/>
              </a:ext>
            </a:extLst>
          </p:cNvPr>
          <p:cNvCxnSpPr>
            <a:cxnSpLocks/>
          </p:cNvCxnSpPr>
          <p:nvPr/>
        </p:nvCxnSpPr>
        <p:spPr>
          <a:xfrm>
            <a:off x="3342968" y="2992581"/>
            <a:ext cx="1417715" cy="1766232"/>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AA4C5305-7369-7801-3D9F-4B7D572FCA2E}"/>
              </a:ext>
            </a:extLst>
          </p:cNvPr>
          <p:cNvCxnSpPr>
            <a:cxnSpLocks/>
          </p:cNvCxnSpPr>
          <p:nvPr/>
        </p:nvCxnSpPr>
        <p:spPr>
          <a:xfrm flipH="1">
            <a:off x="6542949" y="2965030"/>
            <a:ext cx="1372019" cy="1945766"/>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25210FD2-1DD7-3798-AEFF-2D92DC846AAF}"/>
              </a:ext>
            </a:extLst>
          </p:cNvPr>
          <p:cNvCxnSpPr/>
          <p:nvPr/>
        </p:nvCxnSpPr>
        <p:spPr>
          <a:xfrm>
            <a:off x="8695313" y="4218709"/>
            <a:ext cx="1870364" cy="13508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6" name="Straight Connector 15">
            <a:extLst>
              <a:ext uri="{FF2B5EF4-FFF2-40B4-BE49-F238E27FC236}">
                <a16:creationId xmlns:a16="http://schemas.microsoft.com/office/drawing/2014/main" id="{A3C271EF-D5E6-1E4A-24FF-C2EB541B7939}"/>
              </a:ext>
            </a:extLst>
          </p:cNvPr>
          <p:cNvCxnSpPr/>
          <p:nvPr/>
        </p:nvCxnSpPr>
        <p:spPr>
          <a:xfrm flipH="1">
            <a:off x="9060872" y="4131915"/>
            <a:ext cx="1496291" cy="1572694"/>
          </a:xfrm>
          <a:prstGeom prst="line">
            <a:avLst/>
          </a:prstGeom>
        </p:spPr>
        <p:style>
          <a:lnRef idx="3">
            <a:schemeClr val="accent2"/>
          </a:lnRef>
          <a:fillRef idx="0">
            <a:schemeClr val="accent2"/>
          </a:fillRef>
          <a:effectRef idx="2">
            <a:schemeClr val="accent2"/>
          </a:effectRef>
          <a:fontRef idx="minor">
            <a:schemeClr val="tx1"/>
          </a:fontRef>
        </p:style>
      </p:cxnSp>
      <p:sp>
        <p:nvSpPr>
          <p:cNvPr id="17" name="Oval 16">
            <a:extLst>
              <a:ext uri="{FF2B5EF4-FFF2-40B4-BE49-F238E27FC236}">
                <a16:creationId xmlns:a16="http://schemas.microsoft.com/office/drawing/2014/main" id="{487E7F24-013D-D4D6-F914-D23CF707873C}"/>
              </a:ext>
            </a:extLst>
          </p:cNvPr>
          <p:cNvSpPr/>
          <p:nvPr/>
        </p:nvSpPr>
        <p:spPr>
          <a:xfrm>
            <a:off x="8686799" y="5704609"/>
            <a:ext cx="2296391" cy="9871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Java doesn’t support this</a:t>
            </a:r>
          </a:p>
        </p:txBody>
      </p:sp>
    </p:spTree>
    <p:extLst>
      <p:ext uri="{BB962C8B-B14F-4D97-AF65-F5344CB8AC3E}">
        <p14:creationId xmlns:p14="http://schemas.microsoft.com/office/powerpoint/2010/main" val="2323107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7B20-16BA-0BC2-C9D3-6BA1CA4A196E}"/>
              </a:ext>
            </a:extLst>
          </p:cNvPr>
          <p:cNvSpPr>
            <a:spLocks noGrp="1"/>
          </p:cNvSpPr>
          <p:nvPr>
            <p:ph type="title"/>
          </p:nvPr>
        </p:nvSpPr>
        <p:spPr/>
        <p:txBody>
          <a:bodyPr/>
          <a:lstStyle/>
          <a:p>
            <a:r>
              <a:rPr lang="en-IN" dirty="0"/>
              <a:t>Software Engineering</a:t>
            </a:r>
          </a:p>
        </p:txBody>
      </p:sp>
      <p:sp>
        <p:nvSpPr>
          <p:cNvPr id="3" name="Content Placeholder 2">
            <a:extLst>
              <a:ext uri="{FF2B5EF4-FFF2-40B4-BE49-F238E27FC236}">
                <a16:creationId xmlns:a16="http://schemas.microsoft.com/office/drawing/2014/main" id="{E6929AFD-9AD4-9F96-9981-07E925B76896}"/>
              </a:ext>
            </a:extLst>
          </p:cNvPr>
          <p:cNvSpPr>
            <a:spLocks noGrp="1"/>
          </p:cNvSpPr>
          <p:nvPr>
            <p:ph idx="1"/>
          </p:nvPr>
        </p:nvSpPr>
        <p:spPr>
          <a:xfrm>
            <a:off x="875201" y="1252818"/>
            <a:ext cx="8946541" cy="4195481"/>
          </a:xfrm>
        </p:spPr>
        <p:txBody>
          <a:bodyPr>
            <a:normAutofit/>
          </a:bodyPr>
          <a:lstStyle/>
          <a:p>
            <a:r>
              <a:rPr lang="en-US" sz="3200" dirty="0">
                <a:latin typeface="Times New Roman" panose="02020603050405020304" pitchFamily="18" charset="0"/>
                <a:cs typeface="Times New Roman" panose="02020603050405020304" pitchFamily="18" charset="0"/>
              </a:rPr>
              <a:t>Software engineering is a systematic, disciplined, and quantifiable approach to the development, operation, and maintenance of software. It involves the application of engineering principles to software development to ensure that software is reliable, efficient, maintainable, and scalable.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1328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7583D-4E41-C64F-574F-EE9B6C4D1545}"/>
              </a:ext>
            </a:extLst>
          </p:cNvPr>
          <p:cNvSpPr>
            <a:spLocks noGrp="1"/>
          </p:cNvSpPr>
          <p:nvPr>
            <p:ph type="title"/>
          </p:nvPr>
        </p:nvSpPr>
        <p:spPr>
          <a:xfrm>
            <a:off x="646110" y="0"/>
            <a:ext cx="9404723" cy="1400530"/>
          </a:xfrm>
        </p:spPr>
        <p:txBody>
          <a:bodyPr/>
          <a:lstStyle/>
          <a:p>
            <a:r>
              <a:rPr lang="en-US" b="1" dirty="0">
                <a:latin typeface="Times New Roman" panose="02020603050405020304" pitchFamily="18" charset="0"/>
                <a:cs typeface="Times New Roman" panose="02020603050405020304" pitchFamily="18" charset="0"/>
              </a:rPr>
              <a:t>Key Concepts in Software Engineering</a:t>
            </a:r>
            <a:br>
              <a:rPr lang="en-US" b="1" dirty="0"/>
            </a:br>
            <a:endParaRPr lang="en-IN" dirty="0"/>
          </a:p>
        </p:txBody>
      </p:sp>
      <p:sp>
        <p:nvSpPr>
          <p:cNvPr id="4" name="Rectangle 1">
            <a:extLst>
              <a:ext uri="{FF2B5EF4-FFF2-40B4-BE49-F238E27FC236}">
                <a16:creationId xmlns:a16="http://schemas.microsoft.com/office/drawing/2014/main" id="{8756719B-61AA-D3AA-A475-2CB316A2FA46}"/>
              </a:ext>
            </a:extLst>
          </p:cNvPr>
          <p:cNvSpPr>
            <a:spLocks noGrp="1" noChangeArrowheads="1"/>
          </p:cNvSpPr>
          <p:nvPr>
            <p:ph idx="1"/>
          </p:nvPr>
        </p:nvSpPr>
        <p:spPr bwMode="auto">
          <a:xfrm>
            <a:off x="1103312" y="887135"/>
            <a:ext cx="8947521"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Development Life Cycle (SDLC):</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 Analysis: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Understanding and documenting what is required by the user and stakeholders.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Design: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Creating the architecture and design of the software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(Coding):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Writing the actual code according to the design specifications.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Verifying and validating that the software meets the requirements and is free of defects.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Releasing the software to the user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Maintenance: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Updating and improving the software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2020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92C5-CBF8-0247-2AEB-FF39FB6B85C3}"/>
              </a:ext>
            </a:extLst>
          </p:cNvPr>
          <p:cNvSpPr>
            <a:spLocks noGrp="1"/>
          </p:cNvSpPr>
          <p:nvPr>
            <p:ph type="title"/>
          </p:nvPr>
        </p:nvSpPr>
        <p:spPr>
          <a:xfrm>
            <a:off x="0" y="483891"/>
            <a:ext cx="11710555" cy="1400530"/>
          </a:xfrm>
        </p:spPr>
        <p:txBody>
          <a:bodyPr/>
          <a:lstStyle/>
          <a:p>
            <a:r>
              <a:rPr lang="en-US" b="1" dirty="0"/>
              <a:t>SDLC-Software Development Life Cycle</a:t>
            </a:r>
            <a:br>
              <a:rPr lang="en-US" dirty="0"/>
            </a:br>
            <a:endParaRPr lang="en-IN" dirty="0"/>
          </a:p>
        </p:txBody>
      </p:sp>
      <p:sp>
        <p:nvSpPr>
          <p:cNvPr id="3" name="Content Placeholder 2">
            <a:extLst>
              <a:ext uri="{FF2B5EF4-FFF2-40B4-BE49-F238E27FC236}">
                <a16:creationId xmlns:a16="http://schemas.microsoft.com/office/drawing/2014/main" id="{077851DF-121A-BBA5-542A-A046D3BD9148}"/>
              </a:ext>
            </a:extLst>
          </p:cNvPr>
          <p:cNvSpPr>
            <a:spLocks noGrp="1"/>
          </p:cNvSpPr>
          <p:nvPr>
            <p:ph idx="1"/>
          </p:nvPr>
        </p:nvSpPr>
        <p:spPr>
          <a:xfrm>
            <a:off x="323994" y="1331259"/>
            <a:ext cx="9568151" cy="3396605"/>
          </a:xfrm>
        </p:spPr>
        <p:txBody>
          <a:bodyPr>
            <a:noAutofit/>
          </a:bodyPr>
          <a:lstStyle/>
          <a:p>
            <a:r>
              <a:rPr lang="en-IN" sz="3600" dirty="0">
                <a:latin typeface="Times New Roman" panose="02020603050405020304" pitchFamily="18" charset="0"/>
                <a:cs typeface="Times New Roman" panose="02020603050405020304" pitchFamily="18" charset="0"/>
              </a:rPr>
              <a:t>This describes the sequence of phases or steps to develop any software. </a:t>
            </a:r>
          </a:p>
          <a:p>
            <a:r>
              <a:rPr lang="en-IN" sz="3600" dirty="0">
                <a:latin typeface="Times New Roman" panose="02020603050405020304" pitchFamily="18" charset="0"/>
                <a:cs typeface="Times New Roman" panose="02020603050405020304" pitchFamily="18" charset="0"/>
              </a:rPr>
              <a:t>SDLC contains three main stages:</a:t>
            </a:r>
          </a:p>
          <a:p>
            <a:pPr marL="457200" indent="-457200">
              <a:buFont typeface="+mj-lt"/>
              <a:buAutoNum type="arabicPeriod"/>
            </a:pPr>
            <a:r>
              <a:rPr lang="en-IN" sz="3600" dirty="0">
                <a:latin typeface="Times New Roman" panose="02020603050405020304" pitchFamily="18" charset="0"/>
                <a:cs typeface="Times New Roman" panose="02020603050405020304" pitchFamily="18" charset="0"/>
              </a:rPr>
              <a:t> Conception stage </a:t>
            </a:r>
          </a:p>
          <a:p>
            <a:pPr marL="457200" indent="-457200">
              <a:buFont typeface="+mj-lt"/>
              <a:buAutoNum type="arabicPeriod"/>
            </a:pPr>
            <a:r>
              <a:rPr lang="en-IN" sz="3600" dirty="0">
                <a:latin typeface="Times New Roman" panose="02020603050405020304" pitchFamily="18" charset="0"/>
                <a:cs typeface="Times New Roman" panose="02020603050405020304" pitchFamily="18" charset="0"/>
              </a:rPr>
              <a:t>Implementation stage - Coding</a:t>
            </a:r>
          </a:p>
          <a:p>
            <a:pPr marL="457200" indent="-457200">
              <a:buFont typeface="+mj-lt"/>
              <a:buAutoNum type="arabicPeriod"/>
            </a:pPr>
            <a:r>
              <a:rPr lang="en-IN" sz="3600" dirty="0">
                <a:latin typeface="Times New Roman" panose="02020603050405020304" pitchFamily="18" charset="0"/>
                <a:cs typeface="Times New Roman" panose="02020603050405020304" pitchFamily="18" charset="0"/>
              </a:rPr>
              <a:t>Maintance – Upgrade </a:t>
            </a:r>
          </a:p>
        </p:txBody>
      </p:sp>
    </p:spTree>
    <p:extLst>
      <p:ext uri="{BB962C8B-B14F-4D97-AF65-F5344CB8AC3E}">
        <p14:creationId xmlns:p14="http://schemas.microsoft.com/office/powerpoint/2010/main" val="2419702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C688-3B62-9CE0-3D74-C41EAE487FAE}"/>
              </a:ext>
            </a:extLst>
          </p:cNvPr>
          <p:cNvSpPr>
            <a:spLocks noGrp="1"/>
          </p:cNvSpPr>
          <p:nvPr>
            <p:ph type="title"/>
          </p:nvPr>
        </p:nvSpPr>
        <p:spPr/>
        <p:txBody>
          <a:bodyPr/>
          <a:lstStyle/>
          <a:p>
            <a:r>
              <a:rPr lang="en-IN" b="1" dirty="0"/>
              <a:t>SDLC</a:t>
            </a:r>
          </a:p>
        </p:txBody>
      </p:sp>
      <p:pic>
        <p:nvPicPr>
          <p:cNvPr id="5" name="Content Placeholder 4">
            <a:extLst>
              <a:ext uri="{FF2B5EF4-FFF2-40B4-BE49-F238E27FC236}">
                <a16:creationId xmlns:a16="http://schemas.microsoft.com/office/drawing/2014/main" id="{9E8CB2DD-C978-7D33-A9E6-1CDA08143F5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66751" y="2052638"/>
            <a:ext cx="8620274" cy="419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398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DDD5B-0CA9-E6CC-D4FC-EC0471289079}"/>
              </a:ext>
            </a:extLst>
          </p:cNvPr>
          <p:cNvSpPr>
            <a:spLocks noGrp="1"/>
          </p:cNvSpPr>
          <p:nvPr>
            <p:ph type="title"/>
          </p:nvPr>
        </p:nvSpPr>
        <p:spPr/>
        <p:txBody>
          <a:bodyPr/>
          <a:lstStyle/>
          <a:p>
            <a:r>
              <a:rPr lang="en-IN" b="1" dirty="0"/>
              <a:t>SDLC Model</a:t>
            </a:r>
          </a:p>
        </p:txBody>
      </p:sp>
      <p:sp>
        <p:nvSpPr>
          <p:cNvPr id="3" name="Content Placeholder 2">
            <a:extLst>
              <a:ext uri="{FF2B5EF4-FFF2-40B4-BE49-F238E27FC236}">
                <a16:creationId xmlns:a16="http://schemas.microsoft.com/office/drawing/2014/main" id="{7C906E74-D45D-3080-9BEC-AFD259CD47B0}"/>
              </a:ext>
            </a:extLst>
          </p:cNvPr>
          <p:cNvSpPr>
            <a:spLocks noGrp="1"/>
          </p:cNvSpPr>
          <p:nvPr>
            <p:ph idx="1"/>
          </p:nvPr>
        </p:nvSpPr>
        <p:spPr>
          <a:xfrm>
            <a:off x="875201" y="1331259"/>
            <a:ext cx="8946541" cy="4195481"/>
          </a:xfrm>
        </p:spPr>
        <p:txBody>
          <a:bodyPr>
            <a:noAutofit/>
          </a:bodyPr>
          <a:lstStyle/>
          <a:p>
            <a:r>
              <a:rPr lang="en-IN" sz="4400" dirty="0">
                <a:latin typeface="Times New Roman" panose="02020603050405020304" pitchFamily="18" charset="0"/>
                <a:cs typeface="Times New Roman" panose="02020603050405020304" pitchFamily="18" charset="0"/>
              </a:rPr>
              <a:t>The SDLC Model is classified into three categories based on there advantages and disadvantages.</a:t>
            </a:r>
          </a:p>
          <a:p>
            <a:r>
              <a:rPr lang="en-IN" sz="4400" dirty="0">
                <a:latin typeface="Times New Roman" panose="02020603050405020304" pitchFamily="18" charset="0"/>
                <a:cs typeface="Times New Roman" panose="02020603050405020304" pitchFamily="18" charset="0"/>
              </a:rPr>
              <a:t> Waterfall Model (Classical Model)</a:t>
            </a:r>
          </a:p>
          <a:p>
            <a:r>
              <a:rPr lang="en-IN" sz="4400" dirty="0">
                <a:latin typeface="Times New Roman" panose="02020603050405020304" pitchFamily="18" charset="0"/>
                <a:cs typeface="Times New Roman" panose="02020603050405020304" pitchFamily="18" charset="0"/>
              </a:rPr>
              <a:t>Prototype Model</a:t>
            </a:r>
          </a:p>
          <a:p>
            <a:r>
              <a:rPr lang="en-IN" sz="4400" dirty="0">
                <a:latin typeface="Times New Roman" panose="02020603050405020304" pitchFamily="18" charset="0"/>
                <a:cs typeface="Times New Roman" panose="02020603050405020304" pitchFamily="18" charset="0"/>
              </a:rPr>
              <a:t>Spiral Model</a:t>
            </a:r>
          </a:p>
        </p:txBody>
      </p:sp>
    </p:spTree>
    <p:extLst>
      <p:ext uri="{BB962C8B-B14F-4D97-AF65-F5344CB8AC3E}">
        <p14:creationId xmlns:p14="http://schemas.microsoft.com/office/powerpoint/2010/main" val="4147541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0CF12-ADA5-33D4-1322-E3F29501CE93}"/>
              </a:ext>
            </a:extLst>
          </p:cNvPr>
          <p:cNvSpPr>
            <a:spLocks noGrp="1"/>
          </p:cNvSpPr>
          <p:nvPr>
            <p:ph type="title"/>
          </p:nvPr>
        </p:nvSpPr>
        <p:spPr/>
        <p:txBody>
          <a:bodyPr/>
          <a:lstStyle/>
          <a:p>
            <a:r>
              <a:rPr lang="en-IN" b="1" dirty="0"/>
              <a:t>Waterfall Model</a:t>
            </a:r>
          </a:p>
        </p:txBody>
      </p:sp>
      <p:pic>
        <p:nvPicPr>
          <p:cNvPr id="2050" name="Picture 2">
            <a:extLst>
              <a:ext uri="{FF2B5EF4-FFF2-40B4-BE49-F238E27FC236}">
                <a16:creationId xmlns:a16="http://schemas.microsoft.com/office/drawing/2014/main" id="{93222477-A444-DE97-E05A-75D29569D25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6348" y="1524000"/>
            <a:ext cx="9822426" cy="4881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515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C505-22B3-DE40-0C16-1D728F2DEE28}"/>
              </a:ext>
            </a:extLst>
          </p:cNvPr>
          <p:cNvSpPr>
            <a:spLocks noGrp="1"/>
          </p:cNvSpPr>
          <p:nvPr>
            <p:ph type="title"/>
          </p:nvPr>
        </p:nvSpPr>
        <p:spPr>
          <a:xfrm>
            <a:off x="646111" y="452718"/>
            <a:ext cx="9677760" cy="1400530"/>
          </a:xfrm>
        </p:spPr>
        <p:txBody>
          <a:bodyPr/>
          <a:lstStyle/>
          <a:p>
            <a:r>
              <a:rPr lang="en-IN" b="1" u="sng" dirty="0"/>
              <a:t>Why we call this model as Water Fall</a:t>
            </a:r>
          </a:p>
        </p:txBody>
      </p:sp>
      <p:sp>
        <p:nvSpPr>
          <p:cNvPr id="3" name="Content Placeholder 2">
            <a:extLst>
              <a:ext uri="{FF2B5EF4-FFF2-40B4-BE49-F238E27FC236}">
                <a16:creationId xmlns:a16="http://schemas.microsoft.com/office/drawing/2014/main" id="{E6244278-D6BF-0221-FB88-1361BFAB53CB}"/>
              </a:ext>
            </a:extLst>
          </p:cNvPr>
          <p:cNvSpPr>
            <a:spLocks noGrp="1"/>
          </p:cNvSpPr>
          <p:nvPr>
            <p:ph idx="1"/>
          </p:nvPr>
        </p:nvSpPr>
        <p:spPr>
          <a:xfrm>
            <a:off x="874711" y="1531808"/>
            <a:ext cx="9220559" cy="4195481"/>
          </a:xfrm>
        </p:spPr>
        <p:txBody>
          <a:bodyPr>
            <a:normAutofit/>
          </a:bodyPr>
          <a:lstStyle/>
          <a:p>
            <a:r>
              <a:rPr lang="en-US" sz="3600" dirty="0">
                <a:latin typeface="Times New Roman" panose="02020603050405020304" pitchFamily="18" charset="0"/>
                <a:cs typeface="Times New Roman" panose="02020603050405020304" pitchFamily="18" charset="0"/>
              </a:rPr>
              <a:t>The </a:t>
            </a:r>
            <a:r>
              <a:rPr lang="en-US" sz="3600" b="1" dirty="0">
                <a:latin typeface="Times New Roman" panose="02020603050405020304" pitchFamily="18" charset="0"/>
                <a:cs typeface="Times New Roman" panose="02020603050405020304" pitchFamily="18" charset="0"/>
              </a:rPr>
              <a:t>Waterfall model</a:t>
            </a:r>
            <a:r>
              <a:rPr lang="en-US" sz="3600" dirty="0">
                <a:latin typeface="Times New Roman" panose="02020603050405020304" pitchFamily="18" charset="0"/>
                <a:cs typeface="Times New Roman" panose="02020603050405020304" pitchFamily="18" charset="0"/>
              </a:rPr>
              <a:t> is one of the earliest methodologies used in software development and systems engineering. It is a linear and sequential approach where each phase of the development process flows into the next, much like a waterfall.</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845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AB16D-EA81-CA5C-C2C9-6A678F26F7DA}"/>
              </a:ext>
            </a:extLst>
          </p:cNvPr>
          <p:cNvSpPr>
            <a:spLocks noGrp="1"/>
          </p:cNvSpPr>
          <p:nvPr>
            <p:ph type="title"/>
          </p:nvPr>
        </p:nvSpPr>
        <p:spPr/>
        <p:txBody>
          <a:bodyPr/>
          <a:lstStyle/>
          <a:p>
            <a:r>
              <a:rPr lang="en-IN" b="1" u="sng" dirty="0"/>
              <a:t>Prototype Model</a:t>
            </a:r>
          </a:p>
        </p:txBody>
      </p:sp>
      <p:pic>
        <p:nvPicPr>
          <p:cNvPr id="1026" name="Picture 2">
            <a:extLst>
              <a:ext uri="{FF2B5EF4-FFF2-40B4-BE49-F238E27FC236}">
                <a16:creationId xmlns:a16="http://schemas.microsoft.com/office/drawing/2014/main" id="{1C31389C-DB33-5458-1532-77256F915E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2" y="2159794"/>
            <a:ext cx="9404722"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4063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0D8B3-AA53-F371-DFF2-95B437DD8F55}"/>
              </a:ext>
            </a:extLst>
          </p:cNvPr>
          <p:cNvSpPr>
            <a:spLocks noGrp="1"/>
          </p:cNvSpPr>
          <p:nvPr>
            <p:ph type="title"/>
          </p:nvPr>
        </p:nvSpPr>
        <p:spPr/>
        <p:txBody>
          <a:bodyPr/>
          <a:lstStyle/>
          <a:p>
            <a:r>
              <a:rPr lang="en-IN" dirty="0"/>
              <a:t>Prototype Model</a:t>
            </a:r>
          </a:p>
        </p:txBody>
      </p:sp>
      <p:sp>
        <p:nvSpPr>
          <p:cNvPr id="3" name="Content Placeholder 2">
            <a:extLst>
              <a:ext uri="{FF2B5EF4-FFF2-40B4-BE49-F238E27FC236}">
                <a16:creationId xmlns:a16="http://schemas.microsoft.com/office/drawing/2014/main" id="{B05EA908-2489-8C58-D42B-7B3696256875}"/>
              </a:ext>
            </a:extLst>
          </p:cNvPr>
          <p:cNvSpPr>
            <a:spLocks noGrp="1"/>
          </p:cNvSpPr>
          <p:nvPr>
            <p:ph idx="1"/>
          </p:nvPr>
        </p:nvSpPr>
        <p:spPr>
          <a:xfrm>
            <a:off x="750022" y="1507904"/>
            <a:ext cx="8946541" cy="4195481"/>
          </a:xfrm>
        </p:spPr>
        <p:txBody>
          <a:bodyPr/>
          <a:lstStyle/>
          <a:p>
            <a:r>
              <a:rPr lang="en-US" sz="2800" dirty="0">
                <a:latin typeface="Times New Roman" panose="02020603050405020304" pitchFamily="18" charset="0"/>
                <a:cs typeface="Times New Roman" panose="02020603050405020304" pitchFamily="18" charset="0"/>
              </a:rPr>
              <a:t>The Prototype Model is a systems development methodology in software engineering where a prototype (an early approximation of a final system or product) is built, tested, and then reworked until an acceptable prototype is achieved. This model is particularly useful for projects where the requirements are not well understood from the beginning. </a:t>
            </a:r>
          </a:p>
          <a:p>
            <a:endParaRPr lang="en-IN" dirty="0"/>
          </a:p>
        </p:txBody>
      </p:sp>
    </p:spTree>
    <p:extLst>
      <p:ext uri="{BB962C8B-B14F-4D97-AF65-F5344CB8AC3E}">
        <p14:creationId xmlns:p14="http://schemas.microsoft.com/office/powerpoint/2010/main" val="22869273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376B-5D2A-FB43-4F61-D11B3ECAF602}"/>
              </a:ext>
            </a:extLst>
          </p:cNvPr>
          <p:cNvSpPr>
            <a:spLocks noGrp="1"/>
          </p:cNvSpPr>
          <p:nvPr>
            <p:ph type="title"/>
          </p:nvPr>
        </p:nvSpPr>
        <p:spPr/>
        <p:txBody>
          <a:bodyPr/>
          <a:lstStyle/>
          <a:p>
            <a:r>
              <a:rPr lang="en-US" dirty="0"/>
              <a:t>Here are the steps involved in the Prototype Model:</a:t>
            </a:r>
            <a:endParaRPr lang="en-IN" dirty="0"/>
          </a:p>
        </p:txBody>
      </p:sp>
      <p:sp>
        <p:nvSpPr>
          <p:cNvPr id="3" name="Content Placeholder 2">
            <a:extLst>
              <a:ext uri="{FF2B5EF4-FFF2-40B4-BE49-F238E27FC236}">
                <a16:creationId xmlns:a16="http://schemas.microsoft.com/office/drawing/2014/main" id="{604DA4E4-4AA8-4068-B711-DBE93BAA4635}"/>
              </a:ext>
            </a:extLst>
          </p:cNvPr>
          <p:cNvSpPr>
            <a:spLocks noGrp="1"/>
          </p:cNvSpPr>
          <p:nvPr>
            <p:ph idx="1"/>
          </p:nvPr>
        </p:nvSpPr>
        <p:spPr>
          <a:xfrm>
            <a:off x="1082530" y="1959400"/>
            <a:ext cx="10804670" cy="4195481"/>
          </a:xfrm>
        </p:spPr>
        <p:txBody>
          <a:bodyPr>
            <a:normAutofit fontScale="25000" lnSpcReduction="20000"/>
          </a:bodyPr>
          <a:lstStyle/>
          <a:p>
            <a:r>
              <a:rPr lang="en-US" sz="8000" b="1" dirty="0">
                <a:latin typeface="Times New Roman" panose="02020603050405020304" pitchFamily="18" charset="0"/>
                <a:cs typeface="Times New Roman" panose="02020603050405020304" pitchFamily="18" charset="0"/>
              </a:rPr>
              <a:t>Requirements Gathering and Analysis</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Objective</a:t>
            </a:r>
            <a:r>
              <a:rPr lang="en-US" sz="8000" dirty="0">
                <a:latin typeface="Times New Roman" panose="02020603050405020304" pitchFamily="18" charset="0"/>
                <a:cs typeface="Times New Roman" panose="02020603050405020304" pitchFamily="18" charset="0"/>
              </a:rPr>
              <a:t>: Understand the basic requirements of the system.</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Activities</a:t>
            </a:r>
            <a:r>
              <a:rPr lang="en-US" sz="8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Gather initial requirements through discussions with stakeholders.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Identify the primary functionalities that the system should have.</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Determine what aspects of the system are uncertain or likely to change.</a:t>
            </a:r>
          </a:p>
          <a:p>
            <a:r>
              <a:rPr lang="en-US" sz="8000" b="1" dirty="0">
                <a:latin typeface="Times New Roman" panose="02020603050405020304" pitchFamily="18" charset="0"/>
                <a:cs typeface="Times New Roman" panose="02020603050405020304" pitchFamily="18" charset="0"/>
              </a:rPr>
              <a:t>2. Quick Design</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Objective</a:t>
            </a:r>
            <a:r>
              <a:rPr lang="en-US" sz="8000" dirty="0">
                <a:latin typeface="Times New Roman" panose="02020603050405020304" pitchFamily="18" charset="0"/>
                <a:cs typeface="Times New Roman" panose="02020603050405020304" pitchFamily="18" charset="0"/>
              </a:rPr>
              <a:t>: Create a basic design of the system focusing on the aspects that are not well understood.</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Activities</a:t>
            </a:r>
            <a:r>
              <a:rPr lang="en-US" sz="8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Develop a simplified and preliminary version of the system architecture.</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Focus on user interfaces, input, and output processes.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Create mock-ups or sketches of the system.</a:t>
            </a:r>
          </a:p>
          <a:p>
            <a:endParaRPr lang="en-IN" dirty="0"/>
          </a:p>
        </p:txBody>
      </p:sp>
    </p:spTree>
    <p:extLst>
      <p:ext uri="{BB962C8B-B14F-4D97-AF65-F5344CB8AC3E}">
        <p14:creationId xmlns:p14="http://schemas.microsoft.com/office/powerpoint/2010/main" val="1002508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E049-670C-9A9D-2F5D-47CC035215A3}"/>
              </a:ext>
            </a:extLst>
          </p:cNvPr>
          <p:cNvSpPr>
            <a:spLocks noGrp="1"/>
          </p:cNvSpPr>
          <p:nvPr>
            <p:ph type="title"/>
          </p:nvPr>
        </p:nvSpPr>
        <p:spPr>
          <a:xfrm>
            <a:off x="958328" y="116134"/>
            <a:ext cx="9404723" cy="1400530"/>
          </a:xfrm>
        </p:spPr>
        <p:txBody>
          <a:bodyPr/>
          <a:lstStyle/>
          <a:p>
            <a:r>
              <a:rPr lang="en-IN" dirty="0"/>
              <a:t>Con…</a:t>
            </a:r>
          </a:p>
        </p:txBody>
      </p:sp>
      <p:sp>
        <p:nvSpPr>
          <p:cNvPr id="3" name="Content Placeholder 2">
            <a:extLst>
              <a:ext uri="{FF2B5EF4-FFF2-40B4-BE49-F238E27FC236}">
                <a16:creationId xmlns:a16="http://schemas.microsoft.com/office/drawing/2014/main" id="{4FA17CFE-EA55-8C6D-246A-58EF05E6AD33}"/>
              </a:ext>
            </a:extLst>
          </p:cNvPr>
          <p:cNvSpPr>
            <a:spLocks noGrp="1"/>
          </p:cNvSpPr>
          <p:nvPr>
            <p:ph idx="1"/>
          </p:nvPr>
        </p:nvSpPr>
        <p:spPr>
          <a:xfrm>
            <a:off x="677774" y="816399"/>
            <a:ext cx="8946541" cy="4195481"/>
          </a:xfrm>
        </p:spPr>
        <p:txBody>
          <a:bodyPr>
            <a:normAutofit fontScale="25000" lnSpcReduction="20000"/>
          </a:bodyPr>
          <a:lstStyle/>
          <a:p>
            <a:r>
              <a:rPr lang="en-US" sz="9200" b="1" dirty="0">
                <a:latin typeface="Times New Roman" panose="02020603050405020304" pitchFamily="18" charset="0"/>
                <a:cs typeface="Times New Roman" panose="02020603050405020304" pitchFamily="18" charset="0"/>
              </a:rPr>
              <a:t>Building the Prototype</a:t>
            </a:r>
          </a:p>
          <a:p>
            <a:pPr>
              <a:buFont typeface="Arial" panose="020B0604020202020204" pitchFamily="34" charset="0"/>
              <a:buChar char="•"/>
            </a:pPr>
            <a:r>
              <a:rPr lang="en-US" sz="9200" b="1" dirty="0">
                <a:latin typeface="Times New Roman" panose="02020603050405020304" pitchFamily="18" charset="0"/>
                <a:cs typeface="Times New Roman" panose="02020603050405020304" pitchFamily="18" charset="0"/>
              </a:rPr>
              <a:t>Objective</a:t>
            </a:r>
            <a:r>
              <a:rPr lang="en-US" sz="9200" dirty="0">
                <a:latin typeface="Times New Roman" panose="02020603050405020304" pitchFamily="18" charset="0"/>
                <a:cs typeface="Times New Roman" panose="02020603050405020304" pitchFamily="18" charset="0"/>
              </a:rPr>
              <a:t>: Develop an initial version of the system (the prototype) based on the quick design.</a:t>
            </a:r>
          </a:p>
          <a:p>
            <a:pPr>
              <a:buFont typeface="Arial" panose="020B0604020202020204" pitchFamily="34" charset="0"/>
              <a:buChar char="•"/>
            </a:pPr>
            <a:r>
              <a:rPr lang="en-US" sz="9200" b="1" dirty="0">
                <a:latin typeface="Times New Roman" panose="02020603050405020304" pitchFamily="18" charset="0"/>
                <a:cs typeface="Times New Roman" panose="02020603050405020304" pitchFamily="18" charset="0"/>
              </a:rPr>
              <a:t>Activities</a:t>
            </a:r>
            <a:r>
              <a:rPr lang="en-US" sz="92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9200" dirty="0">
                <a:latin typeface="Times New Roman" panose="02020603050405020304" pitchFamily="18" charset="0"/>
                <a:cs typeface="Times New Roman" panose="02020603050405020304" pitchFamily="18" charset="0"/>
              </a:rPr>
              <a:t>Implement the basic functionalities of the system.</a:t>
            </a:r>
          </a:p>
          <a:p>
            <a:pPr marL="742950" lvl="1" indent="-285750">
              <a:buFont typeface="Arial" panose="020B0604020202020204" pitchFamily="34" charset="0"/>
              <a:buChar char="•"/>
            </a:pPr>
            <a:r>
              <a:rPr lang="en-US" sz="9200" dirty="0">
                <a:latin typeface="Times New Roman" panose="02020603050405020304" pitchFamily="18" charset="0"/>
                <a:cs typeface="Times New Roman" panose="02020603050405020304" pitchFamily="18" charset="0"/>
              </a:rPr>
              <a:t>Ensure the prototype includes enough features to demonstrate the core concepts.</a:t>
            </a:r>
          </a:p>
          <a:p>
            <a:pPr marL="742950" lvl="1" indent="-285750">
              <a:buFont typeface="Arial" panose="020B0604020202020204" pitchFamily="34" charset="0"/>
              <a:buChar char="•"/>
            </a:pPr>
            <a:r>
              <a:rPr lang="en-US" sz="9200" dirty="0">
                <a:latin typeface="Times New Roman" panose="02020603050405020304" pitchFamily="18" charset="0"/>
                <a:cs typeface="Times New Roman" panose="02020603050405020304" pitchFamily="18" charset="0"/>
              </a:rPr>
              <a:t>Use tools and techniques that allow rapid development and iteration.</a:t>
            </a:r>
          </a:p>
          <a:p>
            <a:r>
              <a:rPr lang="en-US" sz="9200" b="1" dirty="0">
                <a:latin typeface="Times New Roman" panose="02020603050405020304" pitchFamily="18" charset="0"/>
                <a:cs typeface="Times New Roman" panose="02020603050405020304" pitchFamily="18" charset="0"/>
              </a:rPr>
              <a:t>4. User Evaluation</a:t>
            </a:r>
          </a:p>
          <a:p>
            <a:pPr>
              <a:buFont typeface="Arial" panose="020B0604020202020204" pitchFamily="34" charset="0"/>
              <a:buChar char="•"/>
            </a:pPr>
            <a:r>
              <a:rPr lang="en-US" sz="9200" b="1" dirty="0">
                <a:latin typeface="Times New Roman" panose="02020603050405020304" pitchFamily="18" charset="0"/>
                <a:cs typeface="Times New Roman" panose="02020603050405020304" pitchFamily="18" charset="0"/>
              </a:rPr>
              <a:t>Objective</a:t>
            </a:r>
            <a:r>
              <a:rPr lang="en-US" sz="9200" dirty="0">
                <a:latin typeface="Times New Roman" panose="02020603050405020304" pitchFamily="18" charset="0"/>
                <a:cs typeface="Times New Roman" panose="02020603050405020304" pitchFamily="18" charset="0"/>
              </a:rPr>
              <a:t>: Gather feedback from users on the prototype.</a:t>
            </a:r>
          </a:p>
          <a:p>
            <a:pPr>
              <a:buFont typeface="Arial" panose="020B0604020202020204" pitchFamily="34" charset="0"/>
              <a:buChar char="•"/>
            </a:pPr>
            <a:r>
              <a:rPr lang="en-US" sz="9200" b="1" dirty="0">
                <a:latin typeface="Times New Roman" panose="02020603050405020304" pitchFamily="18" charset="0"/>
                <a:cs typeface="Times New Roman" panose="02020603050405020304" pitchFamily="18" charset="0"/>
              </a:rPr>
              <a:t>Activities</a:t>
            </a:r>
            <a:r>
              <a:rPr lang="en-US" sz="92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9200" dirty="0">
                <a:latin typeface="Times New Roman" panose="02020603050405020304" pitchFamily="18" charset="0"/>
                <a:cs typeface="Times New Roman" panose="02020603050405020304" pitchFamily="18" charset="0"/>
              </a:rPr>
              <a:t>Present the prototype to stakeholders and end-users.</a:t>
            </a:r>
          </a:p>
          <a:p>
            <a:pPr marL="742950" lvl="1" indent="-285750">
              <a:buFont typeface="Arial" panose="020B0604020202020204" pitchFamily="34" charset="0"/>
              <a:buChar char="•"/>
            </a:pPr>
            <a:r>
              <a:rPr lang="en-US" sz="9200" dirty="0">
                <a:latin typeface="Times New Roman" panose="02020603050405020304" pitchFamily="18" charset="0"/>
                <a:cs typeface="Times New Roman" panose="02020603050405020304" pitchFamily="18" charset="0"/>
              </a:rPr>
              <a:t>Collect feedback on the prototype’s functionality, design, and usability.</a:t>
            </a:r>
          </a:p>
          <a:p>
            <a:pPr marL="742950" lvl="1" indent="-285750">
              <a:buFont typeface="Arial" panose="020B0604020202020204" pitchFamily="34" charset="0"/>
              <a:buChar char="•"/>
            </a:pPr>
            <a:r>
              <a:rPr lang="en-US" sz="9200" dirty="0">
                <a:latin typeface="Times New Roman" panose="02020603050405020304" pitchFamily="18" charset="0"/>
                <a:cs typeface="Times New Roman" panose="02020603050405020304" pitchFamily="18" charset="0"/>
              </a:rPr>
              <a:t>Identify any gaps or misunderstandings in the initial requirements.</a:t>
            </a:r>
          </a:p>
          <a:p>
            <a:endParaRPr lang="en-IN" dirty="0"/>
          </a:p>
        </p:txBody>
      </p:sp>
    </p:spTree>
    <p:extLst>
      <p:ext uri="{BB962C8B-B14F-4D97-AF65-F5344CB8AC3E}">
        <p14:creationId xmlns:p14="http://schemas.microsoft.com/office/powerpoint/2010/main" val="7803322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469EC-258F-5DE9-3BCA-7F87E558C328}"/>
              </a:ext>
            </a:extLst>
          </p:cNvPr>
          <p:cNvSpPr>
            <a:spLocks noGrp="1"/>
          </p:cNvSpPr>
          <p:nvPr>
            <p:ph type="title"/>
          </p:nvPr>
        </p:nvSpPr>
        <p:spPr/>
        <p:txBody>
          <a:bodyPr/>
          <a:lstStyle/>
          <a:p>
            <a:r>
              <a:rPr lang="en-IN" dirty="0"/>
              <a:t>Con..</a:t>
            </a:r>
          </a:p>
        </p:txBody>
      </p:sp>
      <p:sp>
        <p:nvSpPr>
          <p:cNvPr id="3" name="Content Placeholder 2">
            <a:extLst>
              <a:ext uri="{FF2B5EF4-FFF2-40B4-BE49-F238E27FC236}">
                <a16:creationId xmlns:a16="http://schemas.microsoft.com/office/drawing/2014/main" id="{4DD5D08E-1FBC-05D9-2C0D-995B2D873F61}"/>
              </a:ext>
            </a:extLst>
          </p:cNvPr>
          <p:cNvSpPr>
            <a:spLocks noGrp="1"/>
          </p:cNvSpPr>
          <p:nvPr>
            <p:ph idx="1"/>
          </p:nvPr>
        </p:nvSpPr>
        <p:spPr>
          <a:xfrm>
            <a:off x="875201" y="1331259"/>
            <a:ext cx="9962517" cy="4195481"/>
          </a:xfrm>
        </p:spPr>
        <p:txBody>
          <a:bodyPr>
            <a:normAutofit fontScale="25000" lnSpcReduction="20000"/>
          </a:bodyPr>
          <a:lstStyle/>
          <a:p>
            <a:r>
              <a:rPr lang="en-US" sz="8000" b="1" dirty="0">
                <a:latin typeface="Times New Roman" panose="02020603050405020304" pitchFamily="18" charset="0"/>
                <a:cs typeface="Times New Roman" panose="02020603050405020304" pitchFamily="18" charset="0"/>
              </a:rPr>
              <a:t>Refining the Prototype</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Objective</a:t>
            </a:r>
            <a:r>
              <a:rPr lang="en-US" sz="8000" dirty="0">
                <a:latin typeface="Times New Roman" panose="02020603050405020304" pitchFamily="18" charset="0"/>
                <a:cs typeface="Times New Roman" panose="02020603050405020304" pitchFamily="18" charset="0"/>
              </a:rPr>
              <a:t>: Improve the prototype based on user feedback.</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Activities</a:t>
            </a:r>
            <a:r>
              <a:rPr lang="en-US" sz="8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Analyze the feedback and determine necessary changes.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Modify the prototype to incorporate feedback and new requirements.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Iterate this process until the prototype meets user expectations and requirements.</a:t>
            </a:r>
          </a:p>
          <a:p>
            <a:r>
              <a:rPr lang="en-US" sz="8000" b="1" dirty="0">
                <a:latin typeface="Times New Roman" panose="02020603050405020304" pitchFamily="18" charset="0"/>
                <a:cs typeface="Times New Roman" panose="02020603050405020304" pitchFamily="18" charset="0"/>
              </a:rPr>
              <a:t>6. Engineer the Product</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Objective</a:t>
            </a:r>
            <a:r>
              <a:rPr lang="en-US" sz="8000" dirty="0">
                <a:latin typeface="Times New Roman" panose="02020603050405020304" pitchFamily="18" charset="0"/>
                <a:cs typeface="Times New Roman" panose="02020603050405020304" pitchFamily="18" charset="0"/>
              </a:rPr>
              <a:t>: Transition from the prototype to the final product.</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Activities</a:t>
            </a:r>
            <a:r>
              <a:rPr lang="en-US" sz="8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Finalize the system requirements based on the refined prototype.</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Design the complete system architecture.</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Develop the final system using standard software development practices.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Perform thorough testing to ensure the system meets all requirements and quality standards.</a:t>
            </a:r>
          </a:p>
          <a:p>
            <a:endParaRPr lang="en-IN" dirty="0"/>
          </a:p>
        </p:txBody>
      </p:sp>
    </p:spTree>
    <p:extLst>
      <p:ext uri="{BB962C8B-B14F-4D97-AF65-F5344CB8AC3E}">
        <p14:creationId xmlns:p14="http://schemas.microsoft.com/office/powerpoint/2010/main" val="39385328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A7B07-AD45-6CB2-AB7D-82103407F11B}"/>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12FD2DAA-D112-A070-8F99-E29EDB5E8E49}"/>
              </a:ext>
            </a:extLst>
          </p:cNvPr>
          <p:cNvSpPr>
            <a:spLocks noGrp="1"/>
          </p:cNvSpPr>
          <p:nvPr>
            <p:ph idx="1"/>
          </p:nvPr>
        </p:nvSpPr>
        <p:spPr>
          <a:xfrm>
            <a:off x="875201" y="1331259"/>
            <a:ext cx="8946541" cy="4195481"/>
          </a:xfrm>
        </p:spPr>
        <p:txBody>
          <a:bodyPr>
            <a:normAutofit fontScale="25000" lnSpcReduction="20000"/>
          </a:bodyPr>
          <a:lstStyle/>
          <a:p>
            <a:r>
              <a:rPr lang="en-US" sz="8000" b="1" dirty="0">
                <a:latin typeface="Times New Roman" panose="02020603050405020304" pitchFamily="18" charset="0"/>
                <a:cs typeface="Times New Roman" panose="02020603050405020304" pitchFamily="18" charset="0"/>
              </a:rPr>
              <a:t>System Testing and Implementation</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Objective</a:t>
            </a:r>
            <a:r>
              <a:rPr lang="en-US" sz="8000" dirty="0">
                <a:latin typeface="Times New Roman" panose="02020603050405020304" pitchFamily="18" charset="0"/>
                <a:cs typeface="Times New Roman" panose="02020603050405020304" pitchFamily="18" charset="0"/>
              </a:rPr>
              <a:t>: Ensure the system is fully functional and ready for deployment.</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Activities</a:t>
            </a:r>
            <a:r>
              <a:rPr lang="en-US" sz="8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Conduct detailed system testing including unit testing, integration testing, and system testing.</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Validate the system against user requirements.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Implement the system in the production environment.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Provide training and support to users.</a:t>
            </a:r>
          </a:p>
          <a:p>
            <a:r>
              <a:rPr lang="en-US" sz="8000" b="1" dirty="0">
                <a:latin typeface="Times New Roman" panose="02020603050405020304" pitchFamily="18" charset="0"/>
                <a:cs typeface="Times New Roman" panose="02020603050405020304" pitchFamily="18" charset="0"/>
              </a:rPr>
              <a:t>8. Maintenance and Updates</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Objective</a:t>
            </a:r>
            <a:r>
              <a:rPr lang="en-US" sz="8000" dirty="0">
                <a:latin typeface="Times New Roman" panose="02020603050405020304" pitchFamily="18" charset="0"/>
                <a:cs typeface="Times New Roman" panose="02020603050405020304" pitchFamily="18" charset="0"/>
              </a:rPr>
              <a:t>: Maintain the system and implement updates as necessary.</a:t>
            </a:r>
          </a:p>
          <a:p>
            <a:pPr>
              <a:buFont typeface="Arial" panose="020B0604020202020204" pitchFamily="34" charset="0"/>
              <a:buChar char="•"/>
            </a:pPr>
            <a:r>
              <a:rPr lang="en-US" sz="8000" b="1" dirty="0">
                <a:latin typeface="Times New Roman" panose="02020603050405020304" pitchFamily="18" charset="0"/>
                <a:cs typeface="Times New Roman" panose="02020603050405020304" pitchFamily="18" charset="0"/>
              </a:rPr>
              <a:t>Activities</a:t>
            </a:r>
            <a:r>
              <a:rPr lang="en-US" sz="8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Monitor the system for any issues or bugs.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Perform regular maintenance and updates based on user feedback and changing requirements.</a:t>
            </a:r>
          </a:p>
          <a:p>
            <a:pPr marL="742950" lvl="1" indent="-285750">
              <a:buFont typeface="Arial" panose="020B0604020202020204" pitchFamily="34" charset="0"/>
              <a:buChar char="•"/>
            </a:pPr>
            <a:r>
              <a:rPr lang="en-US" sz="8000" dirty="0">
                <a:latin typeface="Times New Roman" panose="02020603050405020304" pitchFamily="18" charset="0"/>
                <a:cs typeface="Times New Roman" panose="02020603050405020304" pitchFamily="18" charset="0"/>
              </a:rPr>
              <a:t>Ensure the system remains functional and relevant over time.</a:t>
            </a:r>
          </a:p>
          <a:p>
            <a:endParaRPr lang="en-IN" dirty="0"/>
          </a:p>
        </p:txBody>
      </p:sp>
    </p:spTree>
    <p:extLst>
      <p:ext uri="{BB962C8B-B14F-4D97-AF65-F5344CB8AC3E}">
        <p14:creationId xmlns:p14="http://schemas.microsoft.com/office/powerpoint/2010/main" val="22455748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9CEFE-7073-13C4-9BD1-07B51F294657}"/>
              </a:ext>
            </a:extLst>
          </p:cNvPr>
          <p:cNvSpPr>
            <a:spLocks noGrp="1"/>
          </p:cNvSpPr>
          <p:nvPr>
            <p:ph type="title"/>
          </p:nvPr>
        </p:nvSpPr>
        <p:spPr/>
        <p:txBody>
          <a:bodyPr/>
          <a:lstStyle/>
          <a:p>
            <a:r>
              <a:rPr lang="en-IN" b="1" u="sng" dirty="0"/>
              <a:t>Spiral Model</a:t>
            </a:r>
          </a:p>
        </p:txBody>
      </p:sp>
      <p:pic>
        <p:nvPicPr>
          <p:cNvPr id="2050" name="Picture 2">
            <a:extLst>
              <a:ext uri="{FF2B5EF4-FFF2-40B4-BE49-F238E27FC236}">
                <a16:creationId xmlns:a16="http://schemas.microsoft.com/office/drawing/2014/main" id="{8834401D-D5D9-A24D-342F-91BFC502114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83227" y="1309255"/>
            <a:ext cx="10390909" cy="5361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40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7C07-EB0E-3338-AFA9-2B0A03018CA2}"/>
              </a:ext>
            </a:extLst>
          </p:cNvPr>
          <p:cNvSpPr>
            <a:spLocks noGrp="1"/>
          </p:cNvSpPr>
          <p:nvPr>
            <p:ph type="title"/>
          </p:nvPr>
        </p:nvSpPr>
        <p:spPr/>
        <p:txBody>
          <a:bodyPr/>
          <a:lstStyle/>
          <a:p>
            <a:r>
              <a:rPr lang="en-IN" dirty="0"/>
              <a:t>Con….</a:t>
            </a:r>
          </a:p>
        </p:txBody>
      </p:sp>
      <p:sp>
        <p:nvSpPr>
          <p:cNvPr id="3" name="Content Placeholder 2">
            <a:extLst>
              <a:ext uri="{FF2B5EF4-FFF2-40B4-BE49-F238E27FC236}">
                <a16:creationId xmlns:a16="http://schemas.microsoft.com/office/drawing/2014/main" id="{07648307-D457-DC61-359A-CB7606FFFFEA}"/>
              </a:ext>
            </a:extLst>
          </p:cNvPr>
          <p:cNvSpPr>
            <a:spLocks noGrp="1"/>
          </p:cNvSpPr>
          <p:nvPr>
            <p:ph idx="1"/>
          </p:nvPr>
        </p:nvSpPr>
        <p:spPr>
          <a:xfrm>
            <a:off x="1104293" y="1331259"/>
            <a:ext cx="8946541" cy="4195481"/>
          </a:xfrm>
        </p:spPr>
        <p:txBody>
          <a:bodyPr>
            <a:normAutofit/>
          </a:bodyPr>
          <a:lstStyle/>
          <a:p>
            <a:r>
              <a:rPr lang="en-US" sz="2800" dirty="0"/>
              <a:t>The Spiral Model is a risk-driven software development process model that combines elements of both design and prototyping-in-stages. It is intended to be used for large, complex, and high-risk projects. The model was first introduced by Barry Boehm in 1986 and emphasizes iterative development, allowing for continuous refinement and validation of the software throughout its lifecycle.</a:t>
            </a:r>
            <a:endParaRPr lang="en-IN" sz="2800" dirty="0"/>
          </a:p>
        </p:txBody>
      </p:sp>
    </p:spTree>
    <p:extLst>
      <p:ext uri="{BB962C8B-B14F-4D97-AF65-F5344CB8AC3E}">
        <p14:creationId xmlns:p14="http://schemas.microsoft.com/office/powerpoint/2010/main" val="1947875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1913-0991-36A6-6A2B-7478C1EEBCC2}"/>
              </a:ext>
            </a:extLst>
          </p:cNvPr>
          <p:cNvSpPr>
            <a:spLocks noGrp="1"/>
          </p:cNvSpPr>
          <p:nvPr>
            <p:ph type="title"/>
          </p:nvPr>
        </p:nvSpPr>
        <p:spPr/>
        <p:txBody>
          <a:bodyPr/>
          <a:lstStyle/>
          <a:p>
            <a:r>
              <a:rPr lang="en-US" b="1" dirty="0"/>
              <a:t>Key Phases of the Spiral Model</a:t>
            </a:r>
            <a:br>
              <a:rPr lang="en-US" b="1" dirty="0"/>
            </a:br>
            <a:endParaRPr lang="en-IN" dirty="0"/>
          </a:p>
        </p:txBody>
      </p:sp>
      <p:sp>
        <p:nvSpPr>
          <p:cNvPr id="3" name="Content Placeholder 2">
            <a:extLst>
              <a:ext uri="{FF2B5EF4-FFF2-40B4-BE49-F238E27FC236}">
                <a16:creationId xmlns:a16="http://schemas.microsoft.com/office/drawing/2014/main" id="{53AC54A9-96F3-31A0-F0A8-818A52BCA9C0}"/>
              </a:ext>
            </a:extLst>
          </p:cNvPr>
          <p:cNvSpPr>
            <a:spLocks noGrp="1"/>
          </p:cNvSpPr>
          <p:nvPr>
            <p:ph idx="1"/>
          </p:nvPr>
        </p:nvSpPr>
        <p:spPr>
          <a:xfrm>
            <a:off x="875201" y="1331259"/>
            <a:ext cx="8946541" cy="4195481"/>
          </a:xfrm>
        </p:spPr>
        <p:txBody>
          <a:bodyPr>
            <a:normAutofit fontScale="25000" lnSpcReduction="20000"/>
          </a:bodyPr>
          <a:lstStyle/>
          <a:p>
            <a:r>
              <a:rPr lang="en-US" sz="7200" dirty="0">
                <a:latin typeface="Times New Roman" panose="02020603050405020304" pitchFamily="18" charset="0"/>
                <a:cs typeface="Times New Roman" panose="02020603050405020304" pitchFamily="18" charset="0"/>
              </a:rPr>
              <a:t>The Spiral Model consists of several iterations or "spirals," each representing a phase of the software development process. Each spiral has four main phases:</a:t>
            </a:r>
          </a:p>
          <a:p>
            <a:pPr>
              <a:buFont typeface="+mj-lt"/>
              <a:buAutoNum type="arabicPeriod"/>
            </a:pPr>
            <a:r>
              <a:rPr lang="en-US" sz="7200" b="1" dirty="0">
                <a:latin typeface="Times New Roman" panose="02020603050405020304" pitchFamily="18" charset="0"/>
                <a:cs typeface="Times New Roman" panose="02020603050405020304" pitchFamily="18" charset="0"/>
              </a:rPr>
              <a:t>Planning</a:t>
            </a:r>
            <a:r>
              <a:rPr lang="en-US" sz="72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sz="7200" dirty="0">
                <a:latin typeface="Times New Roman" panose="02020603050405020304" pitchFamily="18" charset="0"/>
                <a:cs typeface="Times New Roman" panose="02020603050405020304" pitchFamily="18" charset="0"/>
              </a:rPr>
              <a:t>This phase involves gathering requirements and understanding the objectives of the project. It includes identifying stakeholders, defining requirements, setting constraints, and assessing risks.</a:t>
            </a:r>
          </a:p>
          <a:p>
            <a:pPr>
              <a:buFont typeface="+mj-lt"/>
              <a:buAutoNum type="arabicPeriod"/>
            </a:pPr>
            <a:r>
              <a:rPr lang="en-US" sz="7200" b="1" dirty="0">
                <a:latin typeface="Times New Roman" panose="02020603050405020304" pitchFamily="18" charset="0"/>
                <a:cs typeface="Times New Roman" panose="02020603050405020304" pitchFamily="18" charset="0"/>
              </a:rPr>
              <a:t>Risk Analysis</a:t>
            </a:r>
            <a:r>
              <a:rPr lang="en-US" sz="72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sz="7200" dirty="0">
                <a:latin typeface="Times New Roman" panose="02020603050405020304" pitchFamily="18" charset="0"/>
                <a:cs typeface="Times New Roman" panose="02020603050405020304" pitchFamily="18" charset="0"/>
              </a:rPr>
              <a:t>In this phase, potential risks are identified, analyzed, and prioritized. This is a critical aspect of the Spiral Model, as it focuses on mitigating risks early in the development process. The outcome of this phase often includes a detailed risk management plan.</a:t>
            </a:r>
          </a:p>
          <a:p>
            <a:pPr>
              <a:buFont typeface="+mj-lt"/>
              <a:buAutoNum type="arabicPeriod"/>
            </a:pPr>
            <a:r>
              <a:rPr lang="en-US" sz="7200" b="1" dirty="0">
                <a:latin typeface="Times New Roman" panose="02020603050405020304" pitchFamily="18" charset="0"/>
                <a:cs typeface="Times New Roman" panose="02020603050405020304" pitchFamily="18" charset="0"/>
              </a:rPr>
              <a:t>Engineering</a:t>
            </a:r>
            <a:r>
              <a:rPr lang="en-US" sz="72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sz="7200" dirty="0">
                <a:latin typeface="Times New Roman" panose="02020603050405020304" pitchFamily="18" charset="0"/>
                <a:cs typeface="Times New Roman" panose="02020603050405020304" pitchFamily="18" charset="0"/>
              </a:rPr>
              <a:t>This phase involves the actual development of the software, including design, coding, testing, and validation. The engineering phase may include building prototypes to better understand the requirements and test solutions.</a:t>
            </a:r>
          </a:p>
          <a:p>
            <a:pPr>
              <a:buFont typeface="+mj-lt"/>
              <a:buAutoNum type="arabicPeriod"/>
            </a:pPr>
            <a:r>
              <a:rPr lang="en-US" sz="7200" b="1" dirty="0">
                <a:latin typeface="Times New Roman" panose="02020603050405020304" pitchFamily="18" charset="0"/>
                <a:cs typeface="Times New Roman" panose="02020603050405020304" pitchFamily="18" charset="0"/>
              </a:rPr>
              <a:t>Evaluation</a:t>
            </a:r>
            <a:r>
              <a:rPr lang="en-US" sz="72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sz="7200" dirty="0">
                <a:latin typeface="Times New Roman" panose="02020603050405020304" pitchFamily="18" charset="0"/>
                <a:cs typeface="Times New Roman" panose="02020603050405020304" pitchFamily="18" charset="0"/>
              </a:rPr>
              <a:t>After each iteration, the product and process are evaluated. This includes assessing the deliverables, ensuring that they meet the requirements, and evaluating the overall progress and direction of the project. Stakeholders provide feedback, which is used to improve subsequent iterations.</a:t>
            </a:r>
          </a:p>
          <a:p>
            <a:endParaRPr lang="en-IN" dirty="0"/>
          </a:p>
        </p:txBody>
      </p:sp>
    </p:spTree>
    <p:extLst>
      <p:ext uri="{BB962C8B-B14F-4D97-AF65-F5344CB8AC3E}">
        <p14:creationId xmlns:p14="http://schemas.microsoft.com/office/powerpoint/2010/main" val="18984532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575</TotalTime>
  <Words>2276</Words>
  <Application>Microsoft Office PowerPoint</Application>
  <PresentationFormat>Widescreen</PresentationFormat>
  <Paragraphs>255</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Arial Unicode MS</vt:lpstr>
      <vt:lpstr>Century Gothic</vt:lpstr>
      <vt:lpstr>Times New Roman</vt:lpstr>
      <vt:lpstr>Wingdings</vt:lpstr>
      <vt:lpstr>Wingdings 3</vt:lpstr>
      <vt:lpstr>Ion</vt:lpstr>
      <vt:lpstr>Fundamentals of Android Applications</vt:lpstr>
      <vt:lpstr>Topics</vt:lpstr>
      <vt:lpstr>Why we use java </vt:lpstr>
      <vt:lpstr>PowerPoint Presentation</vt:lpstr>
      <vt:lpstr>PowerPoint Presentation</vt:lpstr>
      <vt:lpstr>PowerPoint Presentation</vt:lpstr>
      <vt:lpstr>Environments</vt:lpstr>
      <vt:lpstr>OOP</vt:lpstr>
      <vt:lpstr>Class </vt:lpstr>
      <vt:lpstr>Functions</vt:lpstr>
      <vt:lpstr>Function and Class</vt:lpstr>
      <vt:lpstr>Object</vt:lpstr>
      <vt:lpstr>Objects</vt:lpstr>
      <vt:lpstr>Example</vt:lpstr>
      <vt:lpstr>Let us understand .</vt:lpstr>
      <vt:lpstr>Continue…</vt:lpstr>
      <vt:lpstr>Naming Conventions</vt:lpstr>
      <vt:lpstr>Pascal---Class</vt:lpstr>
      <vt:lpstr>camelCaseConvention--Function</vt:lpstr>
      <vt:lpstr>Encapsulation</vt:lpstr>
      <vt:lpstr>PowerPoint Presentation</vt:lpstr>
      <vt:lpstr>Output</vt:lpstr>
      <vt:lpstr>Inheritance</vt:lpstr>
      <vt:lpstr>Key Concepts of Inheritance </vt:lpstr>
      <vt:lpstr>Types of Inheritance</vt:lpstr>
      <vt:lpstr>Syntax</vt:lpstr>
      <vt:lpstr>Single / Simple Inheritance</vt:lpstr>
      <vt:lpstr>Multi-Level Inheritance</vt:lpstr>
      <vt:lpstr>Hierarchical Inheritance</vt:lpstr>
      <vt:lpstr>Multiple Inheritance</vt:lpstr>
      <vt:lpstr>Software Engineering</vt:lpstr>
      <vt:lpstr>Key Concepts in Software Engineering </vt:lpstr>
      <vt:lpstr>SDLC-Software Development Life Cycle </vt:lpstr>
      <vt:lpstr>SDLC</vt:lpstr>
      <vt:lpstr>SDLC Model</vt:lpstr>
      <vt:lpstr>Waterfall Model</vt:lpstr>
      <vt:lpstr>Why we call this model as Water Fall</vt:lpstr>
      <vt:lpstr>Prototype Model</vt:lpstr>
      <vt:lpstr>Prototype Model</vt:lpstr>
      <vt:lpstr>Here are the steps involved in the Prototype Model:</vt:lpstr>
      <vt:lpstr>Con…</vt:lpstr>
      <vt:lpstr>Con..</vt:lpstr>
      <vt:lpstr>Cont….</vt:lpstr>
      <vt:lpstr>Spiral Model</vt:lpstr>
      <vt:lpstr>Con….</vt:lpstr>
      <vt:lpstr>Key Phases of the Spiral 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renjininair1420@gmail.com</dc:creator>
  <cp:lastModifiedBy>renjininair1420@gmail.com</cp:lastModifiedBy>
  <cp:revision>13</cp:revision>
  <dcterms:created xsi:type="dcterms:W3CDTF">2024-07-03T00:58:30Z</dcterms:created>
  <dcterms:modified xsi:type="dcterms:W3CDTF">2024-07-31T16:28:34Z</dcterms:modified>
</cp:coreProperties>
</file>